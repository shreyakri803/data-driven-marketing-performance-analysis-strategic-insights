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00" autoAdjust="0"/>
    <p:restoredTop sz="96236" autoAdjust="0"/>
  </p:normalViewPr>
  <p:slideViewPr>
    <p:cSldViewPr snapToGrid="0">
      <p:cViewPr varScale="1">
        <p:scale>
          <a:sx n="81" d="100"/>
          <a:sy n="81" d="100"/>
        </p:scale>
        <p:origin x="64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99F470-D84B-4CBB-87E7-6D8EAE64DF1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F958C81-E815-492C-88AC-72364D7DE06F}">
      <dgm:prSet/>
      <dgm:spPr/>
      <dgm:t>
        <a:bodyPr/>
        <a:lstStyle/>
        <a:p>
          <a:pPr>
            <a:lnSpc>
              <a:spcPct val="100000"/>
            </a:lnSpc>
          </a:pPr>
          <a:r>
            <a:rPr lang="en-US" b="1"/>
            <a:t>Conversion Rate: </a:t>
          </a:r>
          <a:r>
            <a:rPr lang="en-US"/>
            <a:t>Percentage of website visitors who make a purchase.</a:t>
          </a:r>
        </a:p>
      </dgm:t>
    </dgm:pt>
    <dgm:pt modelId="{FE87780C-F654-491F-8946-D504E9D98083}" type="parTrans" cxnId="{0730D571-C9B6-493A-B7DC-E2016D4A6DAE}">
      <dgm:prSet/>
      <dgm:spPr/>
      <dgm:t>
        <a:bodyPr/>
        <a:lstStyle/>
        <a:p>
          <a:endParaRPr lang="en-US"/>
        </a:p>
      </dgm:t>
    </dgm:pt>
    <dgm:pt modelId="{6BB3A9DC-96EE-4401-94C2-323904C54E51}" type="sibTrans" cxnId="{0730D571-C9B6-493A-B7DC-E2016D4A6DAE}">
      <dgm:prSet/>
      <dgm:spPr/>
      <dgm:t>
        <a:bodyPr/>
        <a:lstStyle/>
        <a:p>
          <a:endParaRPr lang="en-US"/>
        </a:p>
      </dgm:t>
    </dgm:pt>
    <dgm:pt modelId="{A9F2472D-1067-46D7-8A1F-8ACDA453B734}">
      <dgm:prSet/>
      <dgm:spPr/>
      <dgm:t>
        <a:bodyPr/>
        <a:lstStyle/>
        <a:p>
          <a:pPr>
            <a:lnSpc>
              <a:spcPct val="100000"/>
            </a:lnSpc>
          </a:pPr>
          <a:r>
            <a:rPr lang="en-US" b="1"/>
            <a:t>Customer Engagement Rate: </a:t>
          </a:r>
          <a:r>
            <a:rPr lang="en-US"/>
            <a:t>Level of interaction with marketing content (clicks, likes, comments).</a:t>
          </a:r>
        </a:p>
      </dgm:t>
    </dgm:pt>
    <dgm:pt modelId="{B2E4225A-5835-41DB-888B-D9C8AEB69B6E}" type="parTrans" cxnId="{203D5D1B-6942-437A-AEA0-41B4C46903BA}">
      <dgm:prSet/>
      <dgm:spPr/>
      <dgm:t>
        <a:bodyPr/>
        <a:lstStyle/>
        <a:p>
          <a:endParaRPr lang="en-US"/>
        </a:p>
      </dgm:t>
    </dgm:pt>
    <dgm:pt modelId="{9D4B2D75-3B6D-41F9-9BA4-7D75E4E97E23}" type="sibTrans" cxnId="{203D5D1B-6942-437A-AEA0-41B4C46903BA}">
      <dgm:prSet/>
      <dgm:spPr/>
      <dgm:t>
        <a:bodyPr/>
        <a:lstStyle/>
        <a:p>
          <a:endParaRPr lang="en-US"/>
        </a:p>
      </dgm:t>
    </dgm:pt>
    <dgm:pt modelId="{B9C36B79-CB2A-4F91-88F0-7C465D2E393E}">
      <dgm:prSet/>
      <dgm:spPr/>
      <dgm:t>
        <a:bodyPr/>
        <a:lstStyle/>
        <a:p>
          <a:pPr>
            <a:lnSpc>
              <a:spcPct val="100000"/>
            </a:lnSpc>
          </a:pPr>
          <a:r>
            <a:rPr lang="en-US" b="1"/>
            <a:t>Average Order Value (AOV): </a:t>
          </a:r>
          <a:r>
            <a:rPr lang="en-US"/>
            <a:t>Average amount spent by a customer per transaction.</a:t>
          </a:r>
        </a:p>
      </dgm:t>
    </dgm:pt>
    <dgm:pt modelId="{129D7A41-FF56-4C0A-8D32-CE2FB1737AB6}" type="parTrans" cxnId="{AD0E139A-7D5B-45E4-9651-89EEAD7FD982}">
      <dgm:prSet/>
      <dgm:spPr/>
      <dgm:t>
        <a:bodyPr/>
        <a:lstStyle/>
        <a:p>
          <a:endParaRPr lang="en-US"/>
        </a:p>
      </dgm:t>
    </dgm:pt>
    <dgm:pt modelId="{F33F1815-4899-4A3B-989A-0AD6BC2EFC38}" type="sibTrans" cxnId="{AD0E139A-7D5B-45E4-9651-89EEAD7FD982}">
      <dgm:prSet/>
      <dgm:spPr/>
      <dgm:t>
        <a:bodyPr/>
        <a:lstStyle/>
        <a:p>
          <a:endParaRPr lang="en-US"/>
        </a:p>
      </dgm:t>
    </dgm:pt>
    <dgm:pt modelId="{C64989A9-C382-4EB1-A9A7-937AB386DDE7}">
      <dgm:prSet/>
      <dgm:spPr/>
      <dgm:t>
        <a:bodyPr/>
        <a:lstStyle/>
        <a:p>
          <a:pPr>
            <a:lnSpc>
              <a:spcPct val="100000"/>
            </a:lnSpc>
          </a:pPr>
          <a:r>
            <a:rPr lang="en-US" b="1"/>
            <a:t>Customer Feedback Score: </a:t>
          </a:r>
          <a:r>
            <a:rPr lang="en-US"/>
            <a:t>Average rating from customer reviews.</a:t>
          </a:r>
        </a:p>
      </dgm:t>
    </dgm:pt>
    <dgm:pt modelId="{71F26C23-5C8D-46CA-B5A6-2AA348091202}" type="parTrans" cxnId="{B3FC8646-45C0-47C3-8AFA-EADBDC20C698}">
      <dgm:prSet/>
      <dgm:spPr/>
      <dgm:t>
        <a:bodyPr/>
        <a:lstStyle/>
        <a:p>
          <a:endParaRPr lang="en-US"/>
        </a:p>
      </dgm:t>
    </dgm:pt>
    <dgm:pt modelId="{A109E534-65FB-4060-871A-A4E98537D22E}" type="sibTrans" cxnId="{B3FC8646-45C0-47C3-8AFA-EADBDC20C698}">
      <dgm:prSet/>
      <dgm:spPr/>
      <dgm:t>
        <a:bodyPr/>
        <a:lstStyle/>
        <a:p>
          <a:endParaRPr lang="en-US"/>
        </a:p>
      </dgm:t>
    </dgm:pt>
    <dgm:pt modelId="{825A5A76-2A1F-4219-BD1A-AE61552F7D19}" type="pres">
      <dgm:prSet presAssocID="{5099F470-D84B-4CBB-87E7-6D8EAE64DF18}" presName="root" presStyleCnt="0">
        <dgm:presLayoutVars>
          <dgm:dir/>
          <dgm:resizeHandles val="exact"/>
        </dgm:presLayoutVars>
      </dgm:prSet>
      <dgm:spPr/>
    </dgm:pt>
    <dgm:pt modelId="{F05B2A6C-6619-4269-B890-391E8DFF3032}" type="pres">
      <dgm:prSet presAssocID="{1F958C81-E815-492C-88AC-72364D7DE06F}" presName="compNode" presStyleCnt="0"/>
      <dgm:spPr/>
    </dgm:pt>
    <dgm:pt modelId="{B5B40952-0236-484E-8FCA-288D2DC8EEC9}" type="pres">
      <dgm:prSet presAssocID="{1F958C81-E815-492C-88AC-72364D7DE06F}" presName="bgRect" presStyleLbl="bgShp" presStyleIdx="0" presStyleCnt="4"/>
      <dgm:spPr/>
    </dgm:pt>
    <dgm:pt modelId="{F5E849C4-B72A-4F21-B6A8-3CEDDFBECA17}" type="pres">
      <dgm:prSet presAssocID="{1F958C81-E815-492C-88AC-72364D7DE06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ilter"/>
        </a:ext>
      </dgm:extLst>
    </dgm:pt>
    <dgm:pt modelId="{8516AAB9-E89A-4E14-A83B-C7BDC6BEA6B8}" type="pres">
      <dgm:prSet presAssocID="{1F958C81-E815-492C-88AC-72364D7DE06F}" presName="spaceRect" presStyleCnt="0"/>
      <dgm:spPr/>
    </dgm:pt>
    <dgm:pt modelId="{014113F8-E0A3-4448-A9DA-A5D10D29DC98}" type="pres">
      <dgm:prSet presAssocID="{1F958C81-E815-492C-88AC-72364D7DE06F}" presName="parTx" presStyleLbl="revTx" presStyleIdx="0" presStyleCnt="4">
        <dgm:presLayoutVars>
          <dgm:chMax val="0"/>
          <dgm:chPref val="0"/>
        </dgm:presLayoutVars>
      </dgm:prSet>
      <dgm:spPr/>
    </dgm:pt>
    <dgm:pt modelId="{7E9E43FB-CD45-437B-B16C-77EDD1EA50E6}" type="pres">
      <dgm:prSet presAssocID="{6BB3A9DC-96EE-4401-94C2-323904C54E51}" presName="sibTrans" presStyleCnt="0"/>
      <dgm:spPr/>
    </dgm:pt>
    <dgm:pt modelId="{B5A16BC8-797B-4264-A171-BE177C8F7F96}" type="pres">
      <dgm:prSet presAssocID="{A9F2472D-1067-46D7-8A1F-8ACDA453B734}" presName="compNode" presStyleCnt="0"/>
      <dgm:spPr/>
    </dgm:pt>
    <dgm:pt modelId="{A4413A22-6059-4CD7-8021-B70EF02C5AB5}" type="pres">
      <dgm:prSet presAssocID="{A9F2472D-1067-46D7-8A1F-8ACDA453B734}" presName="bgRect" presStyleLbl="bgShp" presStyleIdx="1" presStyleCnt="4"/>
      <dgm:spPr/>
    </dgm:pt>
    <dgm:pt modelId="{22909CDA-D2F1-4A46-89B0-45BE62FA0CFB}" type="pres">
      <dgm:prSet presAssocID="{A9F2472D-1067-46D7-8A1F-8ACDA453B73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humbs Up Sign"/>
        </a:ext>
      </dgm:extLst>
    </dgm:pt>
    <dgm:pt modelId="{D3396336-78DA-4139-9906-1528C848B492}" type="pres">
      <dgm:prSet presAssocID="{A9F2472D-1067-46D7-8A1F-8ACDA453B734}" presName="spaceRect" presStyleCnt="0"/>
      <dgm:spPr/>
    </dgm:pt>
    <dgm:pt modelId="{5F6F8B70-FBDE-4192-AF85-12C9C7F72F62}" type="pres">
      <dgm:prSet presAssocID="{A9F2472D-1067-46D7-8A1F-8ACDA453B734}" presName="parTx" presStyleLbl="revTx" presStyleIdx="1" presStyleCnt="4">
        <dgm:presLayoutVars>
          <dgm:chMax val="0"/>
          <dgm:chPref val="0"/>
        </dgm:presLayoutVars>
      </dgm:prSet>
      <dgm:spPr/>
    </dgm:pt>
    <dgm:pt modelId="{EA8489B3-E0C9-4DB5-9AC4-15865D32E05A}" type="pres">
      <dgm:prSet presAssocID="{9D4B2D75-3B6D-41F9-9BA4-7D75E4E97E23}" presName="sibTrans" presStyleCnt="0"/>
      <dgm:spPr/>
    </dgm:pt>
    <dgm:pt modelId="{5382693C-87CB-44B0-B967-3388E021878B}" type="pres">
      <dgm:prSet presAssocID="{B9C36B79-CB2A-4F91-88F0-7C465D2E393E}" presName="compNode" presStyleCnt="0"/>
      <dgm:spPr/>
    </dgm:pt>
    <dgm:pt modelId="{EA21F1BD-787D-48BC-9018-9A2612EA4559}" type="pres">
      <dgm:prSet presAssocID="{B9C36B79-CB2A-4F91-88F0-7C465D2E393E}" presName="bgRect" presStyleLbl="bgShp" presStyleIdx="2" presStyleCnt="4"/>
      <dgm:spPr/>
    </dgm:pt>
    <dgm:pt modelId="{7E5BE10C-3D24-47DA-A901-4943A945A0BD}" type="pres">
      <dgm:prSet presAssocID="{B9C36B79-CB2A-4F91-88F0-7C465D2E393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oins"/>
        </a:ext>
      </dgm:extLst>
    </dgm:pt>
    <dgm:pt modelId="{152A7CD2-E637-4881-943E-ECC9FB6C1F9A}" type="pres">
      <dgm:prSet presAssocID="{B9C36B79-CB2A-4F91-88F0-7C465D2E393E}" presName="spaceRect" presStyleCnt="0"/>
      <dgm:spPr/>
    </dgm:pt>
    <dgm:pt modelId="{1252FF66-D7F7-4E1C-BCF5-6BE243BD437E}" type="pres">
      <dgm:prSet presAssocID="{B9C36B79-CB2A-4F91-88F0-7C465D2E393E}" presName="parTx" presStyleLbl="revTx" presStyleIdx="2" presStyleCnt="4">
        <dgm:presLayoutVars>
          <dgm:chMax val="0"/>
          <dgm:chPref val="0"/>
        </dgm:presLayoutVars>
      </dgm:prSet>
      <dgm:spPr/>
    </dgm:pt>
    <dgm:pt modelId="{CF445464-3BBE-462E-9C9E-EEB22BD019A9}" type="pres">
      <dgm:prSet presAssocID="{F33F1815-4899-4A3B-989A-0AD6BC2EFC38}" presName="sibTrans" presStyleCnt="0"/>
      <dgm:spPr/>
    </dgm:pt>
    <dgm:pt modelId="{7C27967D-D14C-43A2-B3A5-23EDEEFD8C82}" type="pres">
      <dgm:prSet presAssocID="{C64989A9-C382-4EB1-A9A7-937AB386DDE7}" presName="compNode" presStyleCnt="0"/>
      <dgm:spPr/>
    </dgm:pt>
    <dgm:pt modelId="{74A6A42F-0283-417B-AC71-931383793695}" type="pres">
      <dgm:prSet presAssocID="{C64989A9-C382-4EB1-A9A7-937AB386DDE7}" presName="bgRect" presStyleLbl="bgShp" presStyleIdx="3" presStyleCnt="4"/>
      <dgm:spPr/>
    </dgm:pt>
    <dgm:pt modelId="{7FCC1844-1C52-4F5B-B038-FD8533796CAA}" type="pres">
      <dgm:prSet presAssocID="{C64989A9-C382-4EB1-A9A7-937AB386DDE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Neutral Face with No Fill"/>
        </a:ext>
      </dgm:extLst>
    </dgm:pt>
    <dgm:pt modelId="{7BCE5670-24AD-407E-9C69-5A1CBBF44A48}" type="pres">
      <dgm:prSet presAssocID="{C64989A9-C382-4EB1-A9A7-937AB386DDE7}" presName="spaceRect" presStyleCnt="0"/>
      <dgm:spPr/>
    </dgm:pt>
    <dgm:pt modelId="{CB9B9C23-5C23-4E39-8459-78CD6C4808C0}" type="pres">
      <dgm:prSet presAssocID="{C64989A9-C382-4EB1-A9A7-937AB386DDE7}" presName="parTx" presStyleLbl="revTx" presStyleIdx="3" presStyleCnt="4">
        <dgm:presLayoutVars>
          <dgm:chMax val="0"/>
          <dgm:chPref val="0"/>
        </dgm:presLayoutVars>
      </dgm:prSet>
      <dgm:spPr/>
    </dgm:pt>
  </dgm:ptLst>
  <dgm:cxnLst>
    <dgm:cxn modelId="{64799A0A-6039-4493-81DB-78D0431A7FF5}" type="presOf" srcId="{5099F470-D84B-4CBB-87E7-6D8EAE64DF18}" destId="{825A5A76-2A1F-4219-BD1A-AE61552F7D19}" srcOrd="0" destOrd="0" presId="urn:microsoft.com/office/officeart/2018/2/layout/IconVerticalSolidList"/>
    <dgm:cxn modelId="{203D5D1B-6942-437A-AEA0-41B4C46903BA}" srcId="{5099F470-D84B-4CBB-87E7-6D8EAE64DF18}" destId="{A9F2472D-1067-46D7-8A1F-8ACDA453B734}" srcOrd="1" destOrd="0" parTransId="{B2E4225A-5835-41DB-888B-D9C8AEB69B6E}" sibTransId="{9D4B2D75-3B6D-41F9-9BA4-7D75E4E97E23}"/>
    <dgm:cxn modelId="{12AA3E3E-05C3-4E2A-9656-321F8D2C1C14}" type="presOf" srcId="{A9F2472D-1067-46D7-8A1F-8ACDA453B734}" destId="{5F6F8B70-FBDE-4192-AF85-12C9C7F72F62}" srcOrd="0" destOrd="0" presId="urn:microsoft.com/office/officeart/2018/2/layout/IconVerticalSolidList"/>
    <dgm:cxn modelId="{B3FC8646-45C0-47C3-8AFA-EADBDC20C698}" srcId="{5099F470-D84B-4CBB-87E7-6D8EAE64DF18}" destId="{C64989A9-C382-4EB1-A9A7-937AB386DDE7}" srcOrd="3" destOrd="0" parTransId="{71F26C23-5C8D-46CA-B5A6-2AA348091202}" sibTransId="{A109E534-65FB-4060-871A-A4E98537D22E}"/>
    <dgm:cxn modelId="{0730D571-C9B6-493A-B7DC-E2016D4A6DAE}" srcId="{5099F470-D84B-4CBB-87E7-6D8EAE64DF18}" destId="{1F958C81-E815-492C-88AC-72364D7DE06F}" srcOrd="0" destOrd="0" parTransId="{FE87780C-F654-491F-8946-D504E9D98083}" sibTransId="{6BB3A9DC-96EE-4401-94C2-323904C54E51}"/>
    <dgm:cxn modelId="{59067B58-0BC9-4B51-A0B7-C6DFA3686D92}" type="presOf" srcId="{C64989A9-C382-4EB1-A9A7-937AB386DDE7}" destId="{CB9B9C23-5C23-4E39-8459-78CD6C4808C0}" srcOrd="0" destOrd="0" presId="urn:microsoft.com/office/officeart/2018/2/layout/IconVerticalSolidList"/>
    <dgm:cxn modelId="{AD0E139A-7D5B-45E4-9651-89EEAD7FD982}" srcId="{5099F470-D84B-4CBB-87E7-6D8EAE64DF18}" destId="{B9C36B79-CB2A-4F91-88F0-7C465D2E393E}" srcOrd="2" destOrd="0" parTransId="{129D7A41-FF56-4C0A-8D32-CE2FB1737AB6}" sibTransId="{F33F1815-4899-4A3B-989A-0AD6BC2EFC38}"/>
    <dgm:cxn modelId="{FC7127E6-4300-4AB9-9B6C-15AB9B2E292F}" type="presOf" srcId="{1F958C81-E815-492C-88AC-72364D7DE06F}" destId="{014113F8-E0A3-4448-A9DA-A5D10D29DC98}" srcOrd="0" destOrd="0" presId="urn:microsoft.com/office/officeart/2018/2/layout/IconVerticalSolidList"/>
    <dgm:cxn modelId="{609DCDE9-8DEF-4FCF-BCF2-F4EC1B88CCCB}" type="presOf" srcId="{B9C36B79-CB2A-4F91-88F0-7C465D2E393E}" destId="{1252FF66-D7F7-4E1C-BCF5-6BE243BD437E}" srcOrd="0" destOrd="0" presId="urn:microsoft.com/office/officeart/2018/2/layout/IconVerticalSolidList"/>
    <dgm:cxn modelId="{E7C1CAF6-707E-4347-BB8A-421D504B50CC}" type="presParOf" srcId="{825A5A76-2A1F-4219-BD1A-AE61552F7D19}" destId="{F05B2A6C-6619-4269-B890-391E8DFF3032}" srcOrd="0" destOrd="0" presId="urn:microsoft.com/office/officeart/2018/2/layout/IconVerticalSolidList"/>
    <dgm:cxn modelId="{EE11D39D-48F6-4084-97CA-8CB147C53722}" type="presParOf" srcId="{F05B2A6C-6619-4269-B890-391E8DFF3032}" destId="{B5B40952-0236-484E-8FCA-288D2DC8EEC9}" srcOrd="0" destOrd="0" presId="urn:microsoft.com/office/officeart/2018/2/layout/IconVerticalSolidList"/>
    <dgm:cxn modelId="{DD0E1A63-9002-47F4-A22A-4B7017B09056}" type="presParOf" srcId="{F05B2A6C-6619-4269-B890-391E8DFF3032}" destId="{F5E849C4-B72A-4F21-B6A8-3CEDDFBECA17}" srcOrd="1" destOrd="0" presId="urn:microsoft.com/office/officeart/2018/2/layout/IconVerticalSolidList"/>
    <dgm:cxn modelId="{03129FF1-E735-4540-A16B-0D4325D03073}" type="presParOf" srcId="{F05B2A6C-6619-4269-B890-391E8DFF3032}" destId="{8516AAB9-E89A-4E14-A83B-C7BDC6BEA6B8}" srcOrd="2" destOrd="0" presId="urn:microsoft.com/office/officeart/2018/2/layout/IconVerticalSolidList"/>
    <dgm:cxn modelId="{FBF4FEC8-87A4-4818-9AED-986F5241C20C}" type="presParOf" srcId="{F05B2A6C-6619-4269-B890-391E8DFF3032}" destId="{014113F8-E0A3-4448-A9DA-A5D10D29DC98}" srcOrd="3" destOrd="0" presId="urn:microsoft.com/office/officeart/2018/2/layout/IconVerticalSolidList"/>
    <dgm:cxn modelId="{377CED2B-E801-45F2-A201-61AE86E6530A}" type="presParOf" srcId="{825A5A76-2A1F-4219-BD1A-AE61552F7D19}" destId="{7E9E43FB-CD45-437B-B16C-77EDD1EA50E6}" srcOrd="1" destOrd="0" presId="urn:microsoft.com/office/officeart/2018/2/layout/IconVerticalSolidList"/>
    <dgm:cxn modelId="{108E34E0-1790-49F4-9329-8E52F167B9B4}" type="presParOf" srcId="{825A5A76-2A1F-4219-BD1A-AE61552F7D19}" destId="{B5A16BC8-797B-4264-A171-BE177C8F7F96}" srcOrd="2" destOrd="0" presId="urn:microsoft.com/office/officeart/2018/2/layout/IconVerticalSolidList"/>
    <dgm:cxn modelId="{A8745B3C-28AD-40E9-A484-BC006CD2F483}" type="presParOf" srcId="{B5A16BC8-797B-4264-A171-BE177C8F7F96}" destId="{A4413A22-6059-4CD7-8021-B70EF02C5AB5}" srcOrd="0" destOrd="0" presId="urn:microsoft.com/office/officeart/2018/2/layout/IconVerticalSolidList"/>
    <dgm:cxn modelId="{55709E71-E06D-4BA1-A71B-857EEC2642C6}" type="presParOf" srcId="{B5A16BC8-797B-4264-A171-BE177C8F7F96}" destId="{22909CDA-D2F1-4A46-89B0-45BE62FA0CFB}" srcOrd="1" destOrd="0" presId="urn:microsoft.com/office/officeart/2018/2/layout/IconVerticalSolidList"/>
    <dgm:cxn modelId="{0985BF2B-E392-4E35-9361-D66A9C9F6538}" type="presParOf" srcId="{B5A16BC8-797B-4264-A171-BE177C8F7F96}" destId="{D3396336-78DA-4139-9906-1528C848B492}" srcOrd="2" destOrd="0" presId="urn:microsoft.com/office/officeart/2018/2/layout/IconVerticalSolidList"/>
    <dgm:cxn modelId="{5BEAF49E-A8B8-4BE9-AF1E-776D59EF82EB}" type="presParOf" srcId="{B5A16BC8-797B-4264-A171-BE177C8F7F96}" destId="{5F6F8B70-FBDE-4192-AF85-12C9C7F72F62}" srcOrd="3" destOrd="0" presId="urn:microsoft.com/office/officeart/2018/2/layout/IconVerticalSolidList"/>
    <dgm:cxn modelId="{572B1C88-2BE4-4A53-B442-F3E14D9F496E}" type="presParOf" srcId="{825A5A76-2A1F-4219-BD1A-AE61552F7D19}" destId="{EA8489B3-E0C9-4DB5-9AC4-15865D32E05A}" srcOrd="3" destOrd="0" presId="urn:microsoft.com/office/officeart/2018/2/layout/IconVerticalSolidList"/>
    <dgm:cxn modelId="{53742665-29B2-487A-9818-22DE225EF086}" type="presParOf" srcId="{825A5A76-2A1F-4219-BD1A-AE61552F7D19}" destId="{5382693C-87CB-44B0-B967-3388E021878B}" srcOrd="4" destOrd="0" presId="urn:microsoft.com/office/officeart/2018/2/layout/IconVerticalSolidList"/>
    <dgm:cxn modelId="{043EB88C-0E12-4C5C-BA2F-9590CD4EDAF9}" type="presParOf" srcId="{5382693C-87CB-44B0-B967-3388E021878B}" destId="{EA21F1BD-787D-48BC-9018-9A2612EA4559}" srcOrd="0" destOrd="0" presId="urn:microsoft.com/office/officeart/2018/2/layout/IconVerticalSolidList"/>
    <dgm:cxn modelId="{74EECCFD-920A-44F6-93E5-0634BF04AF57}" type="presParOf" srcId="{5382693C-87CB-44B0-B967-3388E021878B}" destId="{7E5BE10C-3D24-47DA-A901-4943A945A0BD}" srcOrd="1" destOrd="0" presId="urn:microsoft.com/office/officeart/2018/2/layout/IconVerticalSolidList"/>
    <dgm:cxn modelId="{9EFD8634-6A0C-4E10-A36A-2A7A98AFDF54}" type="presParOf" srcId="{5382693C-87CB-44B0-B967-3388E021878B}" destId="{152A7CD2-E637-4881-943E-ECC9FB6C1F9A}" srcOrd="2" destOrd="0" presId="urn:microsoft.com/office/officeart/2018/2/layout/IconVerticalSolidList"/>
    <dgm:cxn modelId="{301F020F-3BAD-4A30-BF8F-978BCF6E9D8B}" type="presParOf" srcId="{5382693C-87CB-44B0-B967-3388E021878B}" destId="{1252FF66-D7F7-4E1C-BCF5-6BE243BD437E}" srcOrd="3" destOrd="0" presId="urn:microsoft.com/office/officeart/2018/2/layout/IconVerticalSolidList"/>
    <dgm:cxn modelId="{F826D3B4-983B-4425-A1E7-4E6C2DE229B1}" type="presParOf" srcId="{825A5A76-2A1F-4219-BD1A-AE61552F7D19}" destId="{CF445464-3BBE-462E-9C9E-EEB22BD019A9}" srcOrd="5" destOrd="0" presId="urn:microsoft.com/office/officeart/2018/2/layout/IconVerticalSolidList"/>
    <dgm:cxn modelId="{B9E84581-1729-4A75-BD0A-49A6C05637B7}" type="presParOf" srcId="{825A5A76-2A1F-4219-BD1A-AE61552F7D19}" destId="{7C27967D-D14C-43A2-B3A5-23EDEEFD8C82}" srcOrd="6" destOrd="0" presId="urn:microsoft.com/office/officeart/2018/2/layout/IconVerticalSolidList"/>
    <dgm:cxn modelId="{34768315-146B-428D-BB91-B61BA916F0F7}" type="presParOf" srcId="{7C27967D-D14C-43A2-B3A5-23EDEEFD8C82}" destId="{74A6A42F-0283-417B-AC71-931383793695}" srcOrd="0" destOrd="0" presId="urn:microsoft.com/office/officeart/2018/2/layout/IconVerticalSolidList"/>
    <dgm:cxn modelId="{FE02CAF9-641B-4971-AA35-54791412A4F8}" type="presParOf" srcId="{7C27967D-D14C-43A2-B3A5-23EDEEFD8C82}" destId="{7FCC1844-1C52-4F5B-B038-FD8533796CAA}" srcOrd="1" destOrd="0" presId="urn:microsoft.com/office/officeart/2018/2/layout/IconVerticalSolidList"/>
    <dgm:cxn modelId="{3B18B59F-8D37-4DAE-91C8-F3704CD57FEC}" type="presParOf" srcId="{7C27967D-D14C-43A2-B3A5-23EDEEFD8C82}" destId="{7BCE5670-24AD-407E-9C69-5A1CBBF44A48}" srcOrd="2" destOrd="0" presId="urn:microsoft.com/office/officeart/2018/2/layout/IconVerticalSolidList"/>
    <dgm:cxn modelId="{59031583-10C7-46B6-900F-C4FFB462A007}" type="presParOf" srcId="{7C27967D-D14C-43A2-B3A5-23EDEEFD8C82}" destId="{CB9B9C23-5C23-4E39-8459-78CD6C4808C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9A52587-9DB3-43C2-A8C7-9B15AD30A8E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77A9BCC-8A21-41E1-B8B7-6CC9348F8CC8}">
      <dgm:prSet/>
      <dgm:spPr/>
      <dgm:t>
        <a:bodyPr/>
        <a:lstStyle/>
        <a:p>
          <a:pPr>
            <a:lnSpc>
              <a:spcPct val="100000"/>
            </a:lnSpc>
          </a:pPr>
          <a:r>
            <a:rPr lang="en-US" b="1"/>
            <a:t>Increase Conversion Rates:</a:t>
          </a:r>
          <a:endParaRPr lang="en-US"/>
        </a:p>
      </dgm:t>
    </dgm:pt>
    <dgm:pt modelId="{03A8A35C-789C-4632-8BD1-44241B04491A}" type="parTrans" cxnId="{A1112C87-3DC4-45CB-8D65-81E58D192A13}">
      <dgm:prSet/>
      <dgm:spPr/>
      <dgm:t>
        <a:bodyPr/>
        <a:lstStyle/>
        <a:p>
          <a:endParaRPr lang="en-US"/>
        </a:p>
      </dgm:t>
    </dgm:pt>
    <dgm:pt modelId="{32ABA586-2927-4F06-ADCE-3C9577293A1E}" type="sibTrans" cxnId="{A1112C87-3DC4-45CB-8D65-81E58D192A13}">
      <dgm:prSet/>
      <dgm:spPr/>
      <dgm:t>
        <a:bodyPr/>
        <a:lstStyle/>
        <a:p>
          <a:endParaRPr lang="en-US"/>
        </a:p>
      </dgm:t>
    </dgm:pt>
    <dgm:pt modelId="{A9B98552-3A05-404D-8B18-4B8F1038E6B2}">
      <dgm:prSet/>
      <dgm:spPr/>
      <dgm:t>
        <a:bodyPr/>
        <a:lstStyle/>
        <a:p>
          <a:pPr>
            <a:lnSpc>
              <a:spcPct val="100000"/>
            </a:lnSpc>
          </a:pPr>
          <a:r>
            <a:rPr lang="en-US" b="1"/>
            <a:t>Goal: </a:t>
          </a:r>
          <a:r>
            <a:rPr lang="en-US"/>
            <a:t>Identify factors impacting the conversion rate and provide recommendations to improve it.</a:t>
          </a:r>
        </a:p>
      </dgm:t>
    </dgm:pt>
    <dgm:pt modelId="{2B5D4E25-75B1-471E-82A0-DE678356E1C8}" type="parTrans" cxnId="{D15244FC-4D84-4049-B6AF-66DFA6C1EF35}">
      <dgm:prSet/>
      <dgm:spPr/>
      <dgm:t>
        <a:bodyPr/>
        <a:lstStyle/>
        <a:p>
          <a:endParaRPr lang="en-US"/>
        </a:p>
      </dgm:t>
    </dgm:pt>
    <dgm:pt modelId="{EEEF2CD9-0AA0-46C2-A153-06FBC9215663}" type="sibTrans" cxnId="{D15244FC-4D84-4049-B6AF-66DFA6C1EF35}">
      <dgm:prSet/>
      <dgm:spPr/>
      <dgm:t>
        <a:bodyPr/>
        <a:lstStyle/>
        <a:p>
          <a:endParaRPr lang="en-US"/>
        </a:p>
      </dgm:t>
    </dgm:pt>
    <dgm:pt modelId="{60DB5FC6-791C-4E40-95C7-23973864FD9C}">
      <dgm:prSet/>
      <dgm:spPr/>
      <dgm:t>
        <a:bodyPr/>
        <a:lstStyle/>
        <a:p>
          <a:pPr>
            <a:lnSpc>
              <a:spcPct val="100000"/>
            </a:lnSpc>
          </a:pPr>
          <a:r>
            <a:rPr lang="en-US" b="1"/>
            <a:t>Insight: </a:t>
          </a:r>
          <a:r>
            <a:rPr lang="en-US"/>
            <a:t>Highlight key stages where visitors drop off and suggest improvements to optimize the conversion funnel.</a:t>
          </a:r>
        </a:p>
      </dgm:t>
    </dgm:pt>
    <dgm:pt modelId="{D2AECCCE-2A57-4868-B57B-6217BE43713F}" type="parTrans" cxnId="{886A7A43-8D25-4966-B234-6703C4C6AA1B}">
      <dgm:prSet/>
      <dgm:spPr/>
      <dgm:t>
        <a:bodyPr/>
        <a:lstStyle/>
        <a:p>
          <a:endParaRPr lang="en-US"/>
        </a:p>
      </dgm:t>
    </dgm:pt>
    <dgm:pt modelId="{83E2B725-F5FE-4261-AB71-885AA99D450A}" type="sibTrans" cxnId="{886A7A43-8D25-4966-B234-6703C4C6AA1B}">
      <dgm:prSet/>
      <dgm:spPr/>
      <dgm:t>
        <a:bodyPr/>
        <a:lstStyle/>
        <a:p>
          <a:endParaRPr lang="en-US"/>
        </a:p>
      </dgm:t>
    </dgm:pt>
    <dgm:pt modelId="{ABED898E-18F6-4CF5-A972-E1739CECF7CC}">
      <dgm:prSet/>
      <dgm:spPr/>
      <dgm:t>
        <a:bodyPr/>
        <a:lstStyle/>
        <a:p>
          <a:pPr>
            <a:lnSpc>
              <a:spcPct val="100000"/>
            </a:lnSpc>
          </a:pPr>
          <a:r>
            <a:rPr lang="en-US" b="1"/>
            <a:t>Enhance Customer Engagement:</a:t>
          </a:r>
          <a:endParaRPr lang="en-US"/>
        </a:p>
      </dgm:t>
    </dgm:pt>
    <dgm:pt modelId="{DE1FE204-D0C9-4497-A507-10CF65BF7BFA}" type="parTrans" cxnId="{7C77D3DD-57A0-4CB6-8442-0A090F9F6021}">
      <dgm:prSet/>
      <dgm:spPr/>
      <dgm:t>
        <a:bodyPr/>
        <a:lstStyle/>
        <a:p>
          <a:endParaRPr lang="en-US"/>
        </a:p>
      </dgm:t>
    </dgm:pt>
    <dgm:pt modelId="{FF4A0AD7-9DE0-4686-8357-57962DA05C10}" type="sibTrans" cxnId="{7C77D3DD-57A0-4CB6-8442-0A090F9F6021}">
      <dgm:prSet/>
      <dgm:spPr/>
      <dgm:t>
        <a:bodyPr/>
        <a:lstStyle/>
        <a:p>
          <a:endParaRPr lang="en-US"/>
        </a:p>
      </dgm:t>
    </dgm:pt>
    <dgm:pt modelId="{0D81F170-9659-4A00-893D-FF25F539AF4E}">
      <dgm:prSet/>
      <dgm:spPr/>
      <dgm:t>
        <a:bodyPr/>
        <a:lstStyle/>
        <a:p>
          <a:pPr>
            <a:lnSpc>
              <a:spcPct val="100000"/>
            </a:lnSpc>
          </a:pPr>
          <a:r>
            <a:rPr lang="en-US" b="1"/>
            <a:t>Goal:</a:t>
          </a:r>
          <a:r>
            <a:rPr lang="en-US"/>
            <a:t> Determine which types of content drive the highest engagement. </a:t>
          </a:r>
        </a:p>
      </dgm:t>
    </dgm:pt>
    <dgm:pt modelId="{544E58F8-03D4-4CA4-BF64-C9794EF6CAB8}" type="parTrans" cxnId="{09A21410-F152-4FEC-A96B-A9274F09B3AC}">
      <dgm:prSet/>
      <dgm:spPr/>
      <dgm:t>
        <a:bodyPr/>
        <a:lstStyle/>
        <a:p>
          <a:endParaRPr lang="en-US"/>
        </a:p>
      </dgm:t>
    </dgm:pt>
    <dgm:pt modelId="{B813F565-43D8-4E70-9B2A-D1A4C027876E}" type="sibTrans" cxnId="{09A21410-F152-4FEC-A96B-A9274F09B3AC}">
      <dgm:prSet/>
      <dgm:spPr/>
      <dgm:t>
        <a:bodyPr/>
        <a:lstStyle/>
        <a:p>
          <a:endParaRPr lang="en-US"/>
        </a:p>
      </dgm:t>
    </dgm:pt>
    <dgm:pt modelId="{F3F856DE-6B33-431E-B388-FAAA0FD35161}">
      <dgm:prSet/>
      <dgm:spPr/>
      <dgm:t>
        <a:bodyPr/>
        <a:lstStyle/>
        <a:p>
          <a:pPr>
            <a:lnSpc>
              <a:spcPct val="100000"/>
            </a:lnSpc>
          </a:pPr>
          <a:r>
            <a:rPr lang="en-US" b="1"/>
            <a:t>Insight:</a:t>
          </a:r>
          <a:r>
            <a:rPr lang="en-US"/>
            <a:t> Analyze interaction levels with different types of marketing content to inform better content strategies.</a:t>
          </a:r>
        </a:p>
      </dgm:t>
    </dgm:pt>
    <dgm:pt modelId="{47476306-3D26-4D1D-B0FC-F91C36811158}" type="parTrans" cxnId="{F4974988-7AA9-413C-8CB2-FC2516A04822}">
      <dgm:prSet/>
      <dgm:spPr/>
      <dgm:t>
        <a:bodyPr/>
        <a:lstStyle/>
        <a:p>
          <a:endParaRPr lang="en-US"/>
        </a:p>
      </dgm:t>
    </dgm:pt>
    <dgm:pt modelId="{A2314009-608F-4FD4-95EA-DFDE4DF3EF27}" type="sibTrans" cxnId="{F4974988-7AA9-413C-8CB2-FC2516A04822}">
      <dgm:prSet/>
      <dgm:spPr/>
      <dgm:t>
        <a:bodyPr/>
        <a:lstStyle/>
        <a:p>
          <a:endParaRPr lang="en-US"/>
        </a:p>
      </dgm:t>
    </dgm:pt>
    <dgm:pt modelId="{171C0562-5F31-4894-9966-75B82EEAEC5E}">
      <dgm:prSet/>
      <dgm:spPr/>
      <dgm:t>
        <a:bodyPr/>
        <a:lstStyle/>
        <a:p>
          <a:pPr>
            <a:lnSpc>
              <a:spcPct val="100000"/>
            </a:lnSpc>
          </a:pPr>
          <a:r>
            <a:rPr lang="en-US" b="1"/>
            <a:t>Improve Customer Feedback Scores:</a:t>
          </a:r>
          <a:endParaRPr lang="en-US"/>
        </a:p>
      </dgm:t>
    </dgm:pt>
    <dgm:pt modelId="{13386DD6-76B7-4EF7-86D0-AEFA9F69E222}" type="parTrans" cxnId="{9FA7C261-4ABF-4068-B1BE-B7B62345C9CC}">
      <dgm:prSet/>
      <dgm:spPr/>
      <dgm:t>
        <a:bodyPr/>
        <a:lstStyle/>
        <a:p>
          <a:endParaRPr lang="en-US"/>
        </a:p>
      </dgm:t>
    </dgm:pt>
    <dgm:pt modelId="{81CD27C9-5C89-4E87-AFAA-E8950F7C75A7}" type="sibTrans" cxnId="{9FA7C261-4ABF-4068-B1BE-B7B62345C9CC}">
      <dgm:prSet/>
      <dgm:spPr/>
      <dgm:t>
        <a:bodyPr/>
        <a:lstStyle/>
        <a:p>
          <a:endParaRPr lang="en-US"/>
        </a:p>
      </dgm:t>
    </dgm:pt>
    <dgm:pt modelId="{AFB701B2-372C-4FDA-8A99-F065EA2ECEC9}">
      <dgm:prSet/>
      <dgm:spPr/>
      <dgm:t>
        <a:bodyPr/>
        <a:lstStyle/>
        <a:p>
          <a:pPr>
            <a:lnSpc>
              <a:spcPct val="100000"/>
            </a:lnSpc>
          </a:pPr>
          <a:r>
            <a:rPr lang="en-US" b="1"/>
            <a:t>Goal:</a:t>
          </a:r>
          <a:r>
            <a:rPr lang="en-US"/>
            <a:t> Understand common themes in customer reviews and provide actionable insights.</a:t>
          </a:r>
        </a:p>
      </dgm:t>
    </dgm:pt>
    <dgm:pt modelId="{0D156382-4D05-4AE5-BE24-F17CF09674E2}" type="parTrans" cxnId="{2049D069-683B-4414-A66E-665F129175E9}">
      <dgm:prSet/>
      <dgm:spPr/>
      <dgm:t>
        <a:bodyPr/>
        <a:lstStyle/>
        <a:p>
          <a:endParaRPr lang="en-US"/>
        </a:p>
      </dgm:t>
    </dgm:pt>
    <dgm:pt modelId="{F4FA3142-D118-41A5-94E9-F3E6AF3CAEB4}" type="sibTrans" cxnId="{2049D069-683B-4414-A66E-665F129175E9}">
      <dgm:prSet/>
      <dgm:spPr/>
      <dgm:t>
        <a:bodyPr/>
        <a:lstStyle/>
        <a:p>
          <a:endParaRPr lang="en-US"/>
        </a:p>
      </dgm:t>
    </dgm:pt>
    <dgm:pt modelId="{5620803A-6CCE-4899-BE0D-E3799F4C01A3}">
      <dgm:prSet/>
      <dgm:spPr/>
      <dgm:t>
        <a:bodyPr/>
        <a:lstStyle/>
        <a:p>
          <a:pPr>
            <a:lnSpc>
              <a:spcPct val="100000"/>
            </a:lnSpc>
          </a:pPr>
          <a:r>
            <a:rPr lang="en-US" b="1"/>
            <a:t>Insight:</a:t>
          </a:r>
          <a:r>
            <a:rPr lang="en-US"/>
            <a:t> Identify recurring positive and negative feedback to guide product and service improvements.</a:t>
          </a:r>
        </a:p>
      </dgm:t>
    </dgm:pt>
    <dgm:pt modelId="{DB3AE186-461B-4C87-B2C6-F35CE3E881E7}" type="parTrans" cxnId="{754E9B34-B202-49F7-BC1D-729AF6BE27B5}">
      <dgm:prSet/>
      <dgm:spPr/>
      <dgm:t>
        <a:bodyPr/>
        <a:lstStyle/>
        <a:p>
          <a:endParaRPr lang="en-US"/>
        </a:p>
      </dgm:t>
    </dgm:pt>
    <dgm:pt modelId="{6946D21A-46A6-4267-BBD3-A54AAD08D11F}" type="sibTrans" cxnId="{754E9B34-B202-49F7-BC1D-729AF6BE27B5}">
      <dgm:prSet/>
      <dgm:spPr/>
      <dgm:t>
        <a:bodyPr/>
        <a:lstStyle/>
        <a:p>
          <a:endParaRPr lang="en-US"/>
        </a:p>
      </dgm:t>
    </dgm:pt>
    <dgm:pt modelId="{52FC5F7C-434C-4720-B3D1-11E82CEFD9A3}" type="pres">
      <dgm:prSet presAssocID="{49A52587-9DB3-43C2-A8C7-9B15AD30A8E9}" presName="root" presStyleCnt="0">
        <dgm:presLayoutVars>
          <dgm:dir/>
          <dgm:resizeHandles val="exact"/>
        </dgm:presLayoutVars>
      </dgm:prSet>
      <dgm:spPr/>
    </dgm:pt>
    <dgm:pt modelId="{2C997DFC-29C2-4989-889E-41267D241025}" type="pres">
      <dgm:prSet presAssocID="{477A9BCC-8A21-41E1-B8B7-6CC9348F8CC8}" presName="compNode" presStyleCnt="0"/>
      <dgm:spPr/>
    </dgm:pt>
    <dgm:pt modelId="{4F6BF34B-BE0B-4A2F-A883-4CB38D0E745D}" type="pres">
      <dgm:prSet presAssocID="{477A9BCC-8A21-41E1-B8B7-6CC9348F8CC8}" presName="bgRect" presStyleLbl="bgShp" presStyleIdx="0" presStyleCnt="3"/>
      <dgm:spPr/>
    </dgm:pt>
    <dgm:pt modelId="{6C08C31E-9896-450B-A44C-9B1C70C1341D}" type="pres">
      <dgm:prSet presAssocID="{477A9BCC-8A21-41E1-B8B7-6CC9348F8CC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llseye"/>
        </a:ext>
      </dgm:extLst>
    </dgm:pt>
    <dgm:pt modelId="{069163C3-D6AE-46FD-BEDF-ED0FBA52DFAC}" type="pres">
      <dgm:prSet presAssocID="{477A9BCC-8A21-41E1-B8B7-6CC9348F8CC8}" presName="spaceRect" presStyleCnt="0"/>
      <dgm:spPr/>
    </dgm:pt>
    <dgm:pt modelId="{2E19728A-5064-4200-9E37-3A8DAC88D276}" type="pres">
      <dgm:prSet presAssocID="{477A9BCC-8A21-41E1-B8B7-6CC9348F8CC8}" presName="parTx" presStyleLbl="revTx" presStyleIdx="0" presStyleCnt="6">
        <dgm:presLayoutVars>
          <dgm:chMax val="0"/>
          <dgm:chPref val="0"/>
        </dgm:presLayoutVars>
      </dgm:prSet>
      <dgm:spPr/>
    </dgm:pt>
    <dgm:pt modelId="{43543F06-07FE-4351-A95A-77CC4030E9A8}" type="pres">
      <dgm:prSet presAssocID="{477A9BCC-8A21-41E1-B8B7-6CC9348F8CC8}" presName="desTx" presStyleLbl="revTx" presStyleIdx="1" presStyleCnt="6">
        <dgm:presLayoutVars/>
      </dgm:prSet>
      <dgm:spPr/>
    </dgm:pt>
    <dgm:pt modelId="{B462E53D-2D8F-4B5A-A64C-54AAA7010B14}" type="pres">
      <dgm:prSet presAssocID="{32ABA586-2927-4F06-ADCE-3C9577293A1E}" presName="sibTrans" presStyleCnt="0"/>
      <dgm:spPr/>
    </dgm:pt>
    <dgm:pt modelId="{6BF7C348-E126-4AC0-8AED-E5B000A4C0D4}" type="pres">
      <dgm:prSet presAssocID="{ABED898E-18F6-4CF5-A972-E1739CECF7CC}" presName="compNode" presStyleCnt="0"/>
      <dgm:spPr/>
    </dgm:pt>
    <dgm:pt modelId="{BDF9409C-E664-4854-9A86-0645516A7FE5}" type="pres">
      <dgm:prSet presAssocID="{ABED898E-18F6-4CF5-A972-E1739CECF7CC}" presName="bgRect" presStyleLbl="bgShp" presStyleIdx="1" presStyleCnt="3"/>
      <dgm:spPr/>
    </dgm:pt>
    <dgm:pt modelId="{3D438BFA-1BA1-4B7A-8F14-241961863BA7}" type="pres">
      <dgm:prSet presAssocID="{ABED898E-18F6-4CF5-A972-E1739CECF7C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egaphone"/>
        </a:ext>
      </dgm:extLst>
    </dgm:pt>
    <dgm:pt modelId="{8DECDCAE-693C-4ECB-89DD-2B69A63C4EC7}" type="pres">
      <dgm:prSet presAssocID="{ABED898E-18F6-4CF5-A972-E1739CECF7CC}" presName="spaceRect" presStyleCnt="0"/>
      <dgm:spPr/>
    </dgm:pt>
    <dgm:pt modelId="{68E01732-1D44-4CD6-A56B-F9CBF5237CA2}" type="pres">
      <dgm:prSet presAssocID="{ABED898E-18F6-4CF5-A972-E1739CECF7CC}" presName="parTx" presStyleLbl="revTx" presStyleIdx="2" presStyleCnt="6">
        <dgm:presLayoutVars>
          <dgm:chMax val="0"/>
          <dgm:chPref val="0"/>
        </dgm:presLayoutVars>
      </dgm:prSet>
      <dgm:spPr/>
    </dgm:pt>
    <dgm:pt modelId="{226B1FEF-5373-452F-81F0-FBE14B20E226}" type="pres">
      <dgm:prSet presAssocID="{ABED898E-18F6-4CF5-A972-E1739CECF7CC}" presName="desTx" presStyleLbl="revTx" presStyleIdx="3" presStyleCnt="6">
        <dgm:presLayoutVars/>
      </dgm:prSet>
      <dgm:spPr/>
    </dgm:pt>
    <dgm:pt modelId="{AC1D86D1-A2CA-4228-9905-D5486BEEC56E}" type="pres">
      <dgm:prSet presAssocID="{FF4A0AD7-9DE0-4686-8357-57962DA05C10}" presName="sibTrans" presStyleCnt="0"/>
      <dgm:spPr/>
    </dgm:pt>
    <dgm:pt modelId="{8D355875-1304-4059-A2AA-ADD43C56874E}" type="pres">
      <dgm:prSet presAssocID="{171C0562-5F31-4894-9966-75B82EEAEC5E}" presName="compNode" presStyleCnt="0"/>
      <dgm:spPr/>
    </dgm:pt>
    <dgm:pt modelId="{254B44DD-7C36-438A-827B-295788AD3B7F}" type="pres">
      <dgm:prSet presAssocID="{171C0562-5F31-4894-9966-75B82EEAEC5E}" presName="bgRect" presStyleLbl="bgShp" presStyleIdx="2" presStyleCnt="3"/>
      <dgm:spPr/>
    </dgm:pt>
    <dgm:pt modelId="{4C413190-5267-4036-AD7E-B70FDFBB359E}" type="pres">
      <dgm:prSet presAssocID="{171C0562-5F31-4894-9966-75B82EEAEC5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Neutral Face with No Fill"/>
        </a:ext>
      </dgm:extLst>
    </dgm:pt>
    <dgm:pt modelId="{95BDB257-6219-4ACE-AE1E-9299B8C9B5CA}" type="pres">
      <dgm:prSet presAssocID="{171C0562-5F31-4894-9966-75B82EEAEC5E}" presName="spaceRect" presStyleCnt="0"/>
      <dgm:spPr/>
    </dgm:pt>
    <dgm:pt modelId="{857065B2-96BC-4C38-B136-1351A359D322}" type="pres">
      <dgm:prSet presAssocID="{171C0562-5F31-4894-9966-75B82EEAEC5E}" presName="parTx" presStyleLbl="revTx" presStyleIdx="4" presStyleCnt="6">
        <dgm:presLayoutVars>
          <dgm:chMax val="0"/>
          <dgm:chPref val="0"/>
        </dgm:presLayoutVars>
      </dgm:prSet>
      <dgm:spPr/>
    </dgm:pt>
    <dgm:pt modelId="{5F030157-E3E8-47FC-B8FD-7D61645F2E66}" type="pres">
      <dgm:prSet presAssocID="{171C0562-5F31-4894-9966-75B82EEAEC5E}" presName="desTx" presStyleLbl="revTx" presStyleIdx="5" presStyleCnt="6">
        <dgm:presLayoutVars/>
      </dgm:prSet>
      <dgm:spPr/>
    </dgm:pt>
  </dgm:ptLst>
  <dgm:cxnLst>
    <dgm:cxn modelId="{09A21410-F152-4FEC-A96B-A9274F09B3AC}" srcId="{ABED898E-18F6-4CF5-A972-E1739CECF7CC}" destId="{0D81F170-9659-4A00-893D-FF25F539AF4E}" srcOrd="0" destOrd="0" parTransId="{544E58F8-03D4-4CA4-BF64-C9794EF6CAB8}" sibTransId="{B813F565-43D8-4E70-9B2A-D1A4C027876E}"/>
    <dgm:cxn modelId="{5948082D-9AB8-4CCE-AD22-00C4291A78CA}" type="presOf" srcId="{ABED898E-18F6-4CF5-A972-E1739CECF7CC}" destId="{68E01732-1D44-4CD6-A56B-F9CBF5237CA2}" srcOrd="0" destOrd="0" presId="urn:microsoft.com/office/officeart/2018/2/layout/IconVerticalSolidList"/>
    <dgm:cxn modelId="{754E9B34-B202-49F7-BC1D-729AF6BE27B5}" srcId="{171C0562-5F31-4894-9966-75B82EEAEC5E}" destId="{5620803A-6CCE-4899-BE0D-E3799F4C01A3}" srcOrd="1" destOrd="0" parTransId="{DB3AE186-461B-4C87-B2C6-F35CE3E881E7}" sibTransId="{6946D21A-46A6-4267-BBD3-A54AAD08D11F}"/>
    <dgm:cxn modelId="{3A06CA40-435E-4DF4-8FD9-A7281938D853}" type="presOf" srcId="{477A9BCC-8A21-41E1-B8B7-6CC9348F8CC8}" destId="{2E19728A-5064-4200-9E37-3A8DAC88D276}" srcOrd="0" destOrd="0" presId="urn:microsoft.com/office/officeart/2018/2/layout/IconVerticalSolidList"/>
    <dgm:cxn modelId="{9FA7C261-4ABF-4068-B1BE-B7B62345C9CC}" srcId="{49A52587-9DB3-43C2-A8C7-9B15AD30A8E9}" destId="{171C0562-5F31-4894-9966-75B82EEAEC5E}" srcOrd="2" destOrd="0" parTransId="{13386DD6-76B7-4EF7-86D0-AEFA9F69E222}" sibTransId="{81CD27C9-5C89-4E87-AFAA-E8950F7C75A7}"/>
    <dgm:cxn modelId="{886A7A43-8D25-4966-B234-6703C4C6AA1B}" srcId="{477A9BCC-8A21-41E1-B8B7-6CC9348F8CC8}" destId="{60DB5FC6-791C-4E40-95C7-23973864FD9C}" srcOrd="1" destOrd="0" parTransId="{D2AECCCE-2A57-4868-B57B-6217BE43713F}" sibTransId="{83E2B725-F5FE-4261-AB71-885AA99D450A}"/>
    <dgm:cxn modelId="{2049D069-683B-4414-A66E-665F129175E9}" srcId="{171C0562-5F31-4894-9966-75B82EEAEC5E}" destId="{AFB701B2-372C-4FDA-8A99-F065EA2ECEC9}" srcOrd="0" destOrd="0" parTransId="{0D156382-4D05-4AE5-BE24-F17CF09674E2}" sibTransId="{F4FA3142-D118-41A5-94E9-F3E6AF3CAEB4}"/>
    <dgm:cxn modelId="{AABD7955-981A-4908-B624-DA642755812F}" type="presOf" srcId="{F3F856DE-6B33-431E-B388-FAAA0FD35161}" destId="{226B1FEF-5373-452F-81F0-FBE14B20E226}" srcOrd="0" destOrd="1" presId="urn:microsoft.com/office/officeart/2018/2/layout/IconVerticalSolidList"/>
    <dgm:cxn modelId="{AA57F355-88DB-4D56-82D9-357601A5EAE5}" type="presOf" srcId="{49A52587-9DB3-43C2-A8C7-9B15AD30A8E9}" destId="{52FC5F7C-434C-4720-B3D1-11E82CEFD9A3}" srcOrd="0" destOrd="0" presId="urn:microsoft.com/office/officeart/2018/2/layout/IconVerticalSolidList"/>
    <dgm:cxn modelId="{A1112C87-3DC4-45CB-8D65-81E58D192A13}" srcId="{49A52587-9DB3-43C2-A8C7-9B15AD30A8E9}" destId="{477A9BCC-8A21-41E1-B8B7-6CC9348F8CC8}" srcOrd="0" destOrd="0" parTransId="{03A8A35C-789C-4632-8BD1-44241B04491A}" sibTransId="{32ABA586-2927-4F06-ADCE-3C9577293A1E}"/>
    <dgm:cxn modelId="{065F1888-F549-4E1A-9D52-4F3ADAAF354C}" type="presOf" srcId="{0D81F170-9659-4A00-893D-FF25F539AF4E}" destId="{226B1FEF-5373-452F-81F0-FBE14B20E226}" srcOrd="0" destOrd="0" presId="urn:microsoft.com/office/officeart/2018/2/layout/IconVerticalSolidList"/>
    <dgm:cxn modelId="{F4974988-7AA9-413C-8CB2-FC2516A04822}" srcId="{ABED898E-18F6-4CF5-A972-E1739CECF7CC}" destId="{F3F856DE-6B33-431E-B388-FAAA0FD35161}" srcOrd="1" destOrd="0" parTransId="{47476306-3D26-4D1D-B0FC-F91C36811158}" sibTransId="{A2314009-608F-4FD4-95EA-DFDE4DF3EF27}"/>
    <dgm:cxn modelId="{74F92A9C-1F1F-4340-BA57-60F916AC4031}" type="presOf" srcId="{A9B98552-3A05-404D-8B18-4B8F1038E6B2}" destId="{43543F06-07FE-4351-A95A-77CC4030E9A8}" srcOrd="0" destOrd="0" presId="urn:microsoft.com/office/officeart/2018/2/layout/IconVerticalSolidList"/>
    <dgm:cxn modelId="{BFFA7FA3-BE98-4A23-8D7D-BCE7DB08E74F}" type="presOf" srcId="{5620803A-6CCE-4899-BE0D-E3799F4C01A3}" destId="{5F030157-E3E8-47FC-B8FD-7D61645F2E66}" srcOrd="0" destOrd="1" presId="urn:microsoft.com/office/officeart/2018/2/layout/IconVerticalSolidList"/>
    <dgm:cxn modelId="{856A0DB5-70F8-4D0A-96F9-4CDFE50EEDD2}" type="presOf" srcId="{AFB701B2-372C-4FDA-8A99-F065EA2ECEC9}" destId="{5F030157-E3E8-47FC-B8FD-7D61645F2E66}" srcOrd="0" destOrd="0" presId="urn:microsoft.com/office/officeart/2018/2/layout/IconVerticalSolidList"/>
    <dgm:cxn modelId="{FB3839C8-2650-4419-868C-DC2CC53677E3}" type="presOf" srcId="{171C0562-5F31-4894-9966-75B82EEAEC5E}" destId="{857065B2-96BC-4C38-B136-1351A359D322}" srcOrd="0" destOrd="0" presId="urn:microsoft.com/office/officeart/2018/2/layout/IconVerticalSolidList"/>
    <dgm:cxn modelId="{C2AE7ED5-3A81-4B35-B0FA-975CAE726B2B}" type="presOf" srcId="{60DB5FC6-791C-4E40-95C7-23973864FD9C}" destId="{43543F06-07FE-4351-A95A-77CC4030E9A8}" srcOrd="0" destOrd="1" presId="urn:microsoft.com/office/officeart/2018/2/layout/IconVerticalSolidList"/>
    <dgm:cxn modelId="{7C77D3DD-57A0-4CB6-8442-0A090F9F6021}" srcId="{49A52587-9DB3-43C2-A8C7-9B15AD30A8E9}" destId="{ABED898E-18F6-4CF5-A972-E1739CECF7CC}" srcOrd="1" destOrd="0" parTransId="{DE1FE204-D0C9-4497-A507-10CF65BF7BFA}" sibTransId="{FF4A0AD7-9DE0-4686-8357-57962DA05C10}"/>
    <dgm:cxn modelId="{D15244FC-4D84-4049-B6AF-66DFA6C1EF35}" srcId="{477A9BCC-8A21-41E1-B8B7-6CC9348F8CC8}" destId="{A9B98552-3A05-404D-8B18-4B8F1038E6B2}" srcOrd="0" destOrd="0" parTransId="{2B5D4E25-75B1-471E-82A0-DE678356E1C8}" sibTransId="{EEEF2CD9-0AA0-46C2-A153-06FBC9215663}"/>
    <dgm:cxn modelId="{A28626C6-2CD4-4A54-9D7B-841742952674}" type="presParOf" srcId="{52FC5F7C-434C-4720-B3D1-11E82CEFD9A3}" destId="{2C997DFC-29C2-4989-889E-41267D241025}" srcOrd="0" destOrd="0" presId="urn:microsoft.com/office/officeart/2018/2/layout/IconVerticalSolidList"/>
    <dgm:cxn modelId="{E2186B3E-212A-4994-97CA-C372D0AB11D3}" type="presParOf" srcId="{2C997DFC-29C2-4989-889E-41267D241025}" destId="{4F6BF34B-BE0B-4A2F-A883-4CB38D0E745D}" srcOrd="0" destOrd="0" presId="urn:microsoft.com/office/officeart/2018/2/layout/IconVerticalSolidList"/>
    <dgm:cxn modelId="{6B33FE03-10A5-4EBC-AAB1-AC6E3464A54E}" type="presParOf" srcId="{2C997DFC-29C2-4989-889E-41267D241025}" destId="{6C08C31E-9896-450B-A44C-9B1C70C1341D}" srcOrd="1" destOrd="0" presId="urn:microsoft.com/office/officeart/2018/2/layout/IconVerticalSolidList"/>
    <dgm:cxn modelId="{5EEBB3F4-445C-4F0E-9791-1745BD076D44}" type="presParOf" srcId="{2C997DFC-29C2-4989-889E-41267D241025}" destId="{069163C3-D6AE-46FD-BEDF-ED0FBA52DFAC}" srcOrd="2" destOrd="0" presId="urn:microsoft.com/office/officeart/2018/2/layout/IconVerticalSolidList"/>
    <dgm:cxn modelId="{04ED9B95-5732-4561-9135-8C18F25BC10F}" type="presParOf" srcId="{2C997DFC-29C2-4989-889E-41267D241025}" destId="{2E19728A-5064-4200-9E37-3A8DAC88D276}" srcOrd="3" destOrd="0" presId="urn:microsoft.com/office/officeart/2018/2/layout/IconVerticalSolidList"/>
    <dgm:cxn modelId="{BF8807DA-EE15-4B54-A2A4-24140095A5FD}" type="presParOf" srcId="{2C997DFC-29C2-4989-889E-41267D241025}" destId="{43543F06-07FE-4351-A95A-77CC4030E9A8}" srcOrd="4" destOrd="0" presId="urn:microsoft.com/office/officeart/2018/2/layout/IconVerticalSolidList"/>
    <dgm:cxn modelId="{D3D01731-0AE7-48E3-BBA4-6AF1448E8388}" type="presParOf" srcId="{52FC5F7C-434C-4720-B3D1-11E82CEFD9A3}" destId="{B462E53D-2D8F-4B5A-A64C-54AAA7010B14}" srcOrd="1" destOrd="0" presId="urn:microsoft.com/office/officeart/2018/2/layout/IconVerticalSolidList"/>
    <dgm:cxn modelId="{CB4508A4-BEA3-4A97-80EF-FFFFB8CB6AF4}" type="presParOf" srcId="{52FC5F7C-434C-4720-B3D1-11E82CEFD9A3}" destId="{6BF7C348-E126-4AC0-8AED-E5B000A4C0D4}" srcOrd="2" destOrd="0" presId="urn:microsoft.com/office/officeart/2018/2/layout/IconVerticalSolidList"/>
    <dgm:cxn modelId="{F2C4478E-6BDB-4BC2-880D-FC842FECB18F}" type="presParOf" srcId="{6BF7C348-E126-4AC0-8AED-E5B000A4C0D4}" destId="{BDF9409C-E664-4854-9A86-0645516A7FE5}" srcOrd="0" destOrd="0" presId="urn:microsoft.com/office/officeart/2018/2/layout/IconVerticalSolidList"/>
    <dgm:cxn modelId="{E9DE2440-D7C0-4002-AEAC-7B6891C9E9D5}" type="presParOf" srcId="{6BF7C348-E126-4AC0-8AED-E5B000A4C0D4}" destId="{3D438BFA-1BA1-4B7A-8F14-241961863BA7}" srcOrd="1" destOrd="0" presId="urn:microsoft.com/office/officeart/2018/2/layout/IconVerticalSolidList"/>
    <dgm:cxn modelId="{B5EE2601-6BFE-4171-B0D8-1740D280CC7A}" type="presParOf" srcId="{6BF7C348-E126-4AC0-8AED-E5B000A4C0D4}" destId="{8DECDCAE-693C-4ECB-89DD-2B69A63C4EC7}" srcOrd="2" destOrd="0" presId="urn:microsoft.com/office/officeart/2018/2/layout/IconVerticalSolidList"/>
    <dgm:cxn modelId="{BAC2318E-91F7-4B60-BC2B-9E58119C17CC}" type="presParOf" srcId="{6BF7C348-E126-4AC0-8AED-E5B000A4C0D4}" destId="{68E01732-1D44-4CD6-A56B-F9CBF5237CA2}" srcOrd="3" destOrd="0" presId="urn:microsoft.com/office/officeart/2018/2/layout/IconVerticalSolidList"/>
    <dgm:cxn modelId="{6D55EFEE-0376-4A5D-B0B3-65E7154EDA19}" type="presParOf" srcId="{6BF7C348-E126-4AC0-8AED-E5B000A4C0D4}" destId="{226B1FEF-5373-452F-81F0-FBE14B20E226}" srcOrd="4" destOrd="0" presId="urn:microsoft.com/office/officeart/2018/2/layout/IconVerticalSolidList"/>
    <dgm:cxn modelId="{A2C8AA0D-E4F5-4ED8-830F-7F37CC146A44}" type="presParOf" srcId="{52FC5F7C-434C-4720-B3D1-11E82CEFD9A3}" destId="{AC1D86D1-A2CA-4228-9905-D5486BEEC56E}" srcOrd="3" destOrd="0" presId="urn:microsoft.com/office/officeart/2018/2/layout/IconVerticalSolidList"/>
    <dgm:cxn modelId="{757F4F7F-6AB6-48DE-90FA-E640356988DC}" type="presParOf" srcId="{52FC5F7C-434C-4720-B3D1-11E82CEFD9A3}" destId="{8D355875-1304-4059-A2AA-ADD43C56874E}" srcOrd="4" destOrd="0" presId="urn:microsoft.com/office/officeart/2018/2/layout/IconVerticalSolidList"/>
    <dgm:cxn modelId="{3F7C71C6-A0A7-44DE-983B-FF688B4CC319}" type="presParOf" srcId="{8D355875-1304-4059-A2AA-ADD43C56874E}" destId="{254B44DD-7C36-438A-827B-295788AD3B7F}" srcOrd="0" destOrd="0" presId="urn:microsoft.com/office/officeart/2018/2/layout/IconVerticalSolidList"/>
    <dgm:cxn modelId="{908905BD-23EC-45EA-B618-ED329F78F7D5}" type="presParOf" srcId="{8D355875-1304-4059-A2AA-ADD43C56874E}" destId="{4C413190-5267-4036-AD7E-B70FDFBB359E}" srcOrd="1" destOrd="0" presId="urn:microsoft.com/office/officeart/2018/2/layout/IconVerticalSolidList"/>
    <dgm:cxn modelId="{1E55EBFB-E726-4BC5-8773-8E2E2683FB21}" type="presParOf" srcId="{8D355875-1304-4059-A2AA-ADD43C56874E}" destId="{95BDB257-6219-4ACE-AE1E-9299B8C9B5CA}" srcOrd="2" destOrd="0" presId="urn:microsoft.com/office/officeart/2018/2/layout/IconVerticalSolidList"/>
    <dgm:cxn modelId="{3B368B96-CDF1-48F7-BF3A-759CD408E4F0}" type="presParOf" srcId="{8D355875-1304-4059-A2AA-ADD43C56874E}" destId="{857065B2-96BC-4C38-B136-1351A359D322}" srcOrd="3" destOrd="0" presId="urn:microsoft.com/office/officeart/2018/2/layout/IconVerticalSolidList"/>
    <dgm:cxn modelId="{39074F9F-3066-4786-B571-EB30D59EB51E}" type="presParOf" srcId="{8D355875-1304-4059-A2AA-ADD43C56874E}" destId="{5F030157-E3E8-47FC-B8FD-7D61645F2E66}"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B40952-0236-484E-8FCA-288D2DC8EEC9}">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E849C4-B72A-4F21-B6A8-3CEDDFBECA17}">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4113F8-E0A3-4448-A9DA-A5D10D29DC98}">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b="1" kern="1200"/>
            <a:t>Conversion Rate: </a:t>
          </a:r>
          <a:r>
            <a:rPr lang="en-US" sz="2200" kern="1200"/>
            <a:t>Percentage of website visitors who make a purchase.</a:t>
          </a:r>
        </a:p>
      </dsp:txBody>
      <dsp:txXfrm>
        <a:off x="1057183" y="1805"/>
        <a:ext cx="9458416" cy="915310"/>
      </dsp:txXfrm>
    </dsp:sp>
    <dsp:sp modelId="{A4413A22-6059-4CD7-8021-B70EF02C5AB5}">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909CDA-D2F1-4A46-89B0-45BE62FA0CFB}">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6F8B70-FBDE-4192-AF85-12C9C7F72F62}">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b="1" kern="1200"/>
            <a:t>Customer Engagement Rate: </a:t>
          </a:r>
          <a:r>
            <a:rPr lang="en-US" sz="2200" kern="1200"/>
            <a:t>Level of interaction with marketing content (clicks, likes, comments).</a:t>
          </a:r>
        </a:p>
      </dsp:txBody>
      <dsp:txXfrm>
        <a:off x="1057183" y="1145944"/>
        <a:ext cx="9458416" cy="915310"/>
      </dsp:txXfrm>
    </dsp:sp>
    <dsp:sp modelId="{EA21F1BD-787D-48BC-9018-9A2612EA4559}">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5BE10C-3D24-47DA-A901-4943A945A0BD}">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52FF66-D7F7-4E1C-BCF5-6BE243BD437E}">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b="1" kern="1200"/>
            <a:t>Average Order Value (AOV): </a:t>
          </a:r>
          <a:r>
            <a:rPr lang="en-US" sz="2200" kern="1200"/>
            <a:t>Average amount spent by a customer per transaction.</a:t>
          </a:r>
        </a:p>
      </dsp:txBody>
      <dsp:txXfrm>
        <a:off x="1057183" y="2290082"/>
        <a:ext cx="9458416" cy="915310"/>
      </dsp:txXfrm>
    </dsp:sp>
    <dsp:sp modelId="{74A6A42F-0283-417B-AC71-931383793695}">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CC1844-1C52-4F5B-B038-FD8533796CAA}">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9B9C23-5C23-4E39-8459-78CD6C4808C0}">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b="1" kern="1200"/>
            <a:t>Customer Feedback Score: </a:t>
          </a:r>
          <a:r>
            <a:rPr lang="en-US" sz="2200" kern="1200"/>
            <a:t>Average rating from customer reviews.</a:t>
          </a:r>
        </a:p>
      </dsp:txBody>
      <dsp:txXfrm>
        <a:off x="1057183" y="3434221"/>
        <a:ext cx="9458416" cy="9153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6BF34B-BE0B-4A2F-A883-4CB38D0E745D}">
      <dsp:nvSpPr>
        <dsp:cNvPr id="0" name=""/>
        <dsp:cNvSpPr/>
      </dsp:nvSpPr>
      <dsp:spPr>
        <a:xfrm>
          <a:off x="0" y="507"/>
          <a:ext cx="11093450" cy="118761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08C31E-9896-450B-A44C-9B1C70C1341D}">
      <dsp:nvSpPr>
        <dsp:cNvPr id="0" name=""/>
        <dsp:cNvSpPr/>
      </dsp:nvSpPr>
      <dsp:spPr>
        <a:xfrm>
          <a:off x="359253" y="267720"/>
          <a:ext cx="653187" cy="653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19728A-5064-4200-9E37-3A8DAC88D276}">
      <dsp:nvSpPr>
        <dsp:cNvPr id="0" name=""/>
        <dsp:cNvSpPr/>
      </dsp:nvSpPr>
      <dsp:spPr>
        <a:xfrm>
          <a:off x="1371694" y="507"/>
          <a:ext cx="4992052" cy="1187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689" tIns="125689" rIns="125689" bIns="125689" numCol="1" spcCol="1270" anchor="ctr" anchorCtr="0">
          <a:noAutofit/>
        </a:bodyPr>
        <a:lstStyle/>
        <a:p>
          <a:pPr marL="0" lvl="0" indent="0" algn="l" defTabSz="1111250">
            <a:lnSpc>
              <a:spcPct val="100000"/>
            </a:lnSpc>
            <a:spcBef>
              <a:spcPct val="0"/>
            </a:spcBef>
            <a:spcAft>
              <a:spcPct val="35000"/>
            </a:spcAft>
            <a:buNone/>
          </a:pPr>
          <a:r>
            <a:rPr lang="en-US" sz="2500" b="1" kern="1200"/>
            <a:t>Increase Conversion Rates:</a:t>
          </a:r>
          <a:endParaRPr lang="en-US" sz="2500" kern="1200"/>
        </a:p>
      </dsp:txBody>
      <dsp:txXfrm>
        <a:off x="1371694" y="507"/>
        <a:ext cx="4992052" cy="1187613"/>
      </dsp:txXfrm>
    </dsp:sp>
    <dsp:sp modelId="{43543F06-07FE-4351-A95A-77CC4030E9A8}">
      <dsp:nvSpPr>
        <dsp:cNvPr id="0" name=""/>
        <dsp:cNvSpPr/>
      </dsp:nvSpPr>
      <dsp:spPr>
        <a:xfrm>
          <a:off x="6363746" y="507"/>
          <a:ext cx="4729703" cy="1187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689" tIns="125689" rIns="125689" bIns="125689" numCol="1" spcCol="1270" anchor="ctr" anchorCtr="0">
          <a:noAutofit/>
        </a:bodyPr>
        <a:lstStyle/>
        <a:p>
          <a:pPr marL="0" lvl="0" indent="0" algn="l" defTabSz="577850">
            <a:lnSpc>
              <a:spcPct val="100000"/>
            </a:lnSpc>
            <a:spcBef>
              <a:spcPct val="0"/>
            </a:spcBef>
            <a:spcAft>
              <a:spcPct val="35000"/>
            </a:spcAft>
            <a:buNone/>
          </a:pPr>
          <a:r>
            <a:rPr lang="en-US" sz="1300" b="1" kern="1200"/>
            <a:t>Goal: </a:t>
          </a:r>
          <a:r>
            <a:rPr lang="en-US" sz="1300" kern="1200"/>
            <a:t>Identify factors impacting the conversion rate and provide recommendations to improve it.</a:t>
          </a:r>
        </a:p>
        <a:p>
          <a:pPr marL="0" lvl="0" indent="0" algn="l" defTabSz="577850">
            <a:lnSpc>
              <a:spcPct val="100000"/>
            </a:lnSpc>
            <a:spcBef>
              <a:spcPct val="0"/>
            </a:spcBef>
            <a:spcAft>
              <a:spcPct val="35000"/>
            </a:spcAft>
            <a:buNone/>
          </a:pPr>
          <a:r>
            <a:rPr lang="en-US" sz="1300" b="1" kern="1200"/>
            <a:t>Insight: </a:t>
          </a:r>
          <a:r>
            <a:rPr lang="en-US" sz="1300" kern="1200"/>
            <a:t>Highlight key stages where visitors drop off and suggest improvements to optimize the conversion funnel.</a:t>
          </a:r>
        </a:p>
      </dsp:txBody>
      <dsp:txXfrm>
        <a:off x="6363746" y="507"/>
        <a:ext cx="4729703" cy="1187613"/>
      </dsp:txXfrm>
    </dsp:sp>
    <dsp:sp modelId="{BDF9409C-E664-4854-9A86-0645516A7FE5}">
      <dsp:nvSpPr>
        <dsp:cNvPr id="0" name=""/>
        <dsp:cNvSpPr/>
      </dsp:nvSpPr>
      <dsp:spPr>
        <a:xfrm>
          <a:off x="0" y="1485025"/>
          <a:ext cx="11093450" cy="118761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438BFA-1BA1-4B7A-8F14-241961863BA7}">
      <dsp:nvSpPr>
        <dsp:cNvPr id="0" name=""/>
        <dsp:cNvSpPr/>
      </dsp:nvSpPr>
      <dsp:spPr>
        <a:xfrm>
          <a:off x="359253" y="1752238"/>
          <a:ext cx="653187" cy="653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E01732-1D44-4CD6-A56B-F9CBF5237CA2}">
      <dsp:nvSpPr>
        <dsp:cNvPr id="0" name=""/>
        <dsp:cNvSpPr/>
      </dsp:nvSpPr>
      <dsp:spPr>
        <a:xfrm>
          <a:off x="1371694" y="1485025"/>
          <a:ext cx="4992052" cy="1187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689" tIns="125689" rIns="125689" bIns="125689" numCol="1" spcCol="1270" anchor="ctr" anchorCtr="0">
          <a:noAutofit/>
        </a:bodyPr>
        <a:lstStyle/>
        <a:p>
          <a:pPr marL="0" lvl="0" indent="0" algn="l" defTabSz="1111250">
            <a:lnSpc>
              <a:spcPct val="100000"/>
            </a:lnSpc>
            <a:spcBef>
              <a:spcPct val="0"/>
            </a:spcBef>
            <a:spcAft>
              <a:spcPct val="35000"/>
            </a:spcAft>
            <a:buNone/>
          </a:pPr>
          <a:r>
            <a:rPr lang="en-US" sz="2500" b="1" kern="1200"/>
            <a:t>Enhance Customer Engagement:</a:t>
          </a:r>
          <a:endParaRPr lang="en-US" sz="2500" kern="1200"/>
        </a:p>
      </dsp:txBody>
      <dsp:txXfrm>
        <a:off x="1371694" y="1485025"/>
        <a:ext cx="4992052" cy="1187613"/>
      </dsp:txXfrm>
    </dsp:sp>
    <dsp:sp modelId="{226B1FEF-5373-452F-81F0-FBE14B20E226}">
      <dsp:nvSpPr>
        <dsp:cNvPr id="0" name=""/>
        <dsp:cNvSpPr/>
      </dsp:nvSpPr>
      <dsp:spPr>
        <a:xfrm>
          <a:off x="6363746" y="1485025"/>
          <a:ext cx="4729703" cy="1187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689" tIns="125689" rIns="125689" bIns="125689" numCol="1" spcCol="1270" anchor="ctr" anchorCtr="0">
          <a:noAutofit/>
        </a:bodyPr>
        <a:lstStyle/>
        <a:p>
          <a:pPr marL="0" lvl="0" indent="0" algn="l" defTabSz="577850">
            <a:lnSpc>
              <a:spcPct val="100000"/>
            </a:lnSpc>
            <a:spcBef>
              <a:spcPct val="0"/>
            </a:spcBef>
            <a:spcAft>
              <a:spcPct val="35000"/>
            </a:spcAft>
            <a:buNone/>
          </a:pPr>
          <a:r>
            <a:rPr lang="en-US" sz="1300" b="1" kern="1200"/>
            <a:t>Goal:</a:t>
          </a:r>
          <a:r>
            <a:rPr lang="en-US" sz="1300" kern="1200"/>
            <a:t> Determine which types of content drive the highest engagement. </a:t>
          </a:r>
        </a:p>
        <a:p>
          <a:pPr marL="0" lvl="0" indent="0" algn="l" defTabSz="577850">
            <a:lnSpc>
              <a:spcPct val="100000"/>
            </a:lnSpc>
            <a:spcBef>
              <a:spcPct val="0"/>
            </a:spcBef>
            <a:spcAft>
              <a:spcPct val="35000"/>
            </a:spcAft>
            <a:buNone/>
          </a:pPr>
          <a:r>
            <a:rPr lang="en-US" sz="1300" b="1" kern="1200"/>
            <a:t>Insight:</a:t>
          </a:r>
          <a:r>
            <a:rPr lang="en-US" sz="1300" kern="1200"/>
            <a:t> Analyze interaction levels with different types of marketing content to inform better content strategies.</a:t>
          </a:r>
        </a:p>
      </dsp:txBody>
      <dsp:txXfrm>
        <a:off x="6363746" y="1485025"/>
        <a:ext cx="4729703" cy="1187613"/>
      </dsp:txXfrm>
    </dsp:sp>
    <dsp:sp modelId="{254B44DD-7C36-438A-827B-295788AD3B7F}">
      <dsp:nvSpPr>
        <dsp:cNvPr id="0" name=""/>
        <dsp:cNvSpPr/>
      </dsp:nvSpPr>
      <dsp:spPr>
        <a:xfrm>
          <a:off x="0" y="2969542"/>
          <a:ext cx="11093450" cy="118761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413190-5267-4036-AD7E-B70FDFBB359E}">
      <dsp:nvSpPr>
        <dsp:cNvPr id="0" name=""/>
        <dsp:cNvSpPr/>
      </dsp:nvSpPr>
      <dsp:spPr>
        <a:xfrm>
          <a:off x="359253" y="3236755"/>
          <a:ext cx="653187" cy="653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7065B2-96BC-4C38-B136-1351A359D322}">
      <dsp:nvSpPr>
        <dsp:cNvPr id="0" name=""/>
        <dsp:cNvSpPr/>
      </dsp:nvSpPr>
      <dsp:spPr>
        <a:xfrm>
          <a:off x="1371694" y="2969542"/>
          <a:ext cx="4992052" cy="1187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689" tIns="125689" rIns="125689" bIns="125689" numCol="1" spcCol="1270" anchor="ctr" anchorCtr="0">
          <a:noAutofit/>
        </a:bodyPr>
        <a:lstStyle/>
        <a:p>
          <a:pPr marL="0" lvl="0" indent="0" algn="l" defTabSz="1111250">
            <a:lnSpc>
              <a:spcPct val="100000"/>
            </a:lnSpc>
            <a:spcBef>
              <a:spcPct val="0"/>
            </a:spcBef>
            <a:spcAft>
              <a:spcPct val="35000"/>
            </a:spcAft>
            <a:buNone/>
          </a:pPr>
          <a:r>
            <a:rPr lang="en-US" sz="2500" b="1" kern="1200"/>
            <a:t>Improve Customer Feedback Scores:</a:t>
          </a:r>
          <a:endParaRPr lang="en-US" sz="2500" kern="1200"/>
        </a:p>
      </dsp:txBody>
      <dsp:txXfrm>
        <a:off x="1371694" y="2969542"/>
        <a:ext cx="4992052" cy="1187613"/>
      </dsp:txXfrm>
    </dsp:sp>
    <dsp:sp modelId="{5F030157-E3E8-47FC-B8FD-7D61645F2E66}">
      <dsp:nvSpPr>
        <dsp:cNvPr id="0" name=""/>
        <dsp:cNvSpPr/>
      </dsp:nvSpPr>
      <dsp:spPr>
        <a:xfrm>
          <a:off x="6363746" y="2969542"/>
          <a:ext cx="4729703" cy="1187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689" tIns="125689" rIns="125689" bIns="125689" numCol="1" spcCol="1270" anchor="ctr" anchorCtr="0">
          <a:noAutofit/>
        </a:bodyPr>
        <a:lstStyle/>
        <a:p>
          <a:pPr marL="0" lvl="0" indent="0" algn="l" defTabSz="577850">
            <a:lnSpc>
              <a:spcPct val="100000"/>
            </a:lnSpc>
            <a:spcBef>
              <a:spcPct val="0"/>
            </a:spcBef>
            <a:spcAft>
              <a:spcPct val="35000"/>
            </a:spcAft>
            <a:buNone/>
          </a:pPr>
          <a:r>
            <a:rPr lang="en-US" sz="1300" b="1" kern="1200"/>
            <a:t>Goal:</a:t>
          </a:r>
          <a:r>
            <a:rPr lang="en-US" sz="1300" kern="1200"/>
            <a:t> Understand common themes in customer reviews and provide actionable insights.</a:t>
          </a:r>
        </a:p>
        <a:p>
          <a:pPr marL="0" lvl="0" indent="0" algn="l" defTabSz="577850">
            <a:lnSpc>
              <a:spcPct val="100000"/>
            </a:lnSpc>
            <a:spcBef>
              <a:spcPct val="0"/>
            </a:spcBef>
            <a:spcAft>
              <a:spcPct val="35000"/>
            </a:spcAft>
            <a:buNone/>
          </a:pPr>
          <a:r>
            <a:rPr lang="en-US" sz="1300" b="1" kern="1200"/>
            <a:t>Insight:</a:t>
          </a:r>
          <a:r>
            <a:rPr lang="en-US" sz="1300" kern="1200"/>
            <a:t> Identify recurring positive and negative feedback to guide product and service improvements.</a:t>
          </a:r>
        </a:p>
      </dsp:txBody>
      <dsp:txXfrm>
        <a:off x="6363746" y="2969542"/>
        <a:ext cx="4729703" cy="118761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04.11.2025</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04.11.2025</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04.11.2025</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04.11.2025</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04.11.2025</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04.11.2025</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04.11.2025</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04.11.2025</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04.11.2025</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04.11.2025</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04.11.2025</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04.11.2025</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inancial graphs on a dark display">
            <a:extLst>
              <a:ext uri="{FF2B5EF4-FFF2-40B4-BE49-F238E27FC236}">
                <a16:creationId xmlns:a16="http://schemas.microsoft.com/office/drawing/2014/main" id="{01AE4EBA-5D8F-0F6A-19D6-0D6C1718001D}"/>
              </a:ext>
            </a:extLst>
          </p:cNvPr>
          <p:cNvPicPr>
            <a:picLocks noChangeAspect="1"/>
          </p:cNvPicPr>
          <p:nvPr/>
        </p:nvPicPr>
        <p:blipFill>
          <a:blip r:embed="rId2">
            <a:alphaModFix amt="50000"/>
          </a:blip>
          <a:srcRect t="10000"/>
          <a:stretch/>
        </p:blipFill>
        <p:spPr>
          <a:xfrm>
            <a:off x="20" y="1"/>
            <a:ext cx="12191980" cy="6857999"/>
          </a:xfrm>
          <a:prstGeom prst="rect">
            <a:avLst/>
          </a:prstGeom>
        </p:spPr>
      </p:pic>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a:xfrm>
            <a:off x="1524000" y="1122362"/>
            <a:ext cx="9144000" cy="2900518"/>
          </a:xfrm>
        </p:spPr>
        <p:txBody>
          <a:bodyPr>
            <a:normAutofit/>
          </a:bodyPr>
          <a:lstStyle/>
          <a:p>
            <a:r>
              <a:rPr lang="en-GB" dirty="0"/>
              <a:t>Data-Driven Marketing Performance Analysis &amp; Strategic Insights</a:t>
            </a:r>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a:xfrm>
            <a:off x="1524000" y="4159404"/>
            <a:ext cx="9144000" cy="1098395"/>
          </a:xfrm>
        </p:spPr>
        <p:txBody>
          <a:bodyPr>
            <a:normAutofit/>
          </a:bodyPr>
          <a:lstStyle/>
          <a:p>
            <a:r>
              <a:rPr lang="nb-NO" dirty="0">
                <a:solidFill>
                  <a:srgbClr val="FFFFFF"/>
                </a:solidFill>
              </a:rPr>
              <a:t>SHREYA KUMARI</a:t>
            </a:r>
          </a:p>
          <a:p>
            <a:endParaRPr lang="nb-NO" dirty="0">
              <a:solidFill>
                <a:srgbClr val="FFFFFF"/>
              </a:solidFill>
            </a:endParaRPr>
          </a:p>
        </p:txBody>
      </p:sp>
    </p:spTree>
    <p:extLst>
      <p:ext uri="{BB962C8B-B14F-4D97-AF65-F5344CB8AC3E}">
        <p14:creationId xmlns:p14="http://schemas.microsoft.com/office/powerpoint/2010/main" val="277280798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4" name="Rectangle 23">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a:xfrm>
            <a:off x="761802" y="350196"/>
            <a:ext cx="5068981" cy="1624520"/>
          </a:xfrm>
        </p:spPr>
        <p:txBody>
          <a:bodyPr anchor="ctr">
            <a:normAutofit/>
          </a:bodyPr>
          <a:lstStyle/>
          <a:p>
            <a:r>
              <a:rPr lang="en-IN" sz="4000" b="1" dirty="0"/>
              <a:t>🧩 Business Problem</a:t>
            </a:r>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281048" y="2285999"/>
            <a:ext cx="5549735" cy="4572000"/>
          </a:xfrm>
        </p:spPr>
        <p:txBody>
          <a:bodyPr anchor="ctr">
            <a:normAutofit/>
          </a:bodyPr>
          <a:lstStyle/>
          <a:p>
            <a:pPr marL="0" indent="0">
              <a:buNone/>
            </a:pPr>
            <a:r>
              <a:rPr lang="en-GB" sz="1100" dirty="0" err="1"/>
              <a:t>ShopEasy</a:t>
            </a:r>
            <a:r>
              <a:rPr lang="en-GB" sz="1100" dirty="0"/>
              <a:t>, a growing online retail brand, is experiencing a decline in customer engagement and conversion despite launching multiple digital marketing campaigns. While marketing investments have increased, the expected improvements in user interaction, sales conversion, and overall customer satisfaction have not materialized. To regain momentum and maximize ROI, a targeted, data-driven marketing performance assessment is required.</a:t>
            </a:r>
          </a:p>
          <a:p>
            <a:pPr marL="0" indent="0">
              <a:buNone/>
            </a:pPr>
            <a:r>
              <a:rPr lang="en-GB" sz="1100" b="1" dirty="0"/>
              <a:t>🔑 Key Challenges</a:t>
            </a:r>
          </a:p>
          <a:p>
            <a:pPr lvl="1"/>
            <a:r>
              <a:rPr lang="en-GB" sz="1100" b="1" dirty="0"/>
              <a:t>Reduced Customer Engagement:</a:t>
            </a:r>
            <a:br>
              <a:rPr lang="en-GB" sz="1100" dirty="0"/>
            </a:br>
            <a:r>
              <a:rPr lang="en-GB" sz="1100" dirty="0"/>
              <a:t>Declining interaction with website content and marketing campaigns across digital channels.</a:t>
            </a:r>
          </a:p>
          <a:p>
            <a:pPr lvl="1"/>
            <a:r>
              <a:rPr lang="en-GB" sz="1100" b="1" dirty="0"/>
              <a:t>Lower Conversion Rates:</a:t>
            </a:r>
            <a:br>
              <a:rPr lang="en-GB" sz="1100" dirty="0"/>
            </a:br>
            <a:r>
              <a:rPr lang="en-GB" sz="1100" dirty="0"/>
              <a:t>Fewer visitors completing purchases, indicating inefficiencies in the customer journey and funnel strategy.</a:t>
            </a:r>
          </a:p>
          <a:p>
            <a:pPr lvl="1"/>
            <a:r>
              <a:rPr lang="en-GB" sz="1100" b="1" dirty="0"/>
              <a:t>High Marketing Spend vs Low Returns:</a:t>
            </a:r>
            <a:br>
              <a:rPr lang="en-GB" sz="1100" dirty="0"/>
            </a:br>
            <a:r>
              <a:rPr lang="en-GB" sz="1100" dirty="0"/>
              <a:t>Increased campaign investments are not translating into proportional revenue or performance gains.</a:t>
            </a:r>
          </a:p>
          <a:p>
            <a:pPr lvl="1"/>
            <a:r>
              <a:rPr lang="en-GB" sz="1100" b="1" dirty="0"/>
              <a:t>Need for Actionable Customer Insights:</a:t>
            </a:r>
            <a:br>
              <a:rPr lang="en-GB" sz="1100" dirty="0"/>
            </a:br>
            <a:r>
              <a:rPr lang="en-GB" sz="1100" dirty="0"/>
              <a:t>Customer reviews and sentiment data must be leveraged to identify product/service gaps and enhance satisfaction.</a:t>
            </a:r>
          </a:p>
          <a:p>
            <a:pPr marL="0" indent="0">
              <a:buNone/>
            </a:pPr>
            <a:r>
              <a:rPr lang="en-GB" sz="1100" b="1" dirty="0"/>
              <a:t>🎯 Objective</a:t>
            </a:r>
          </a:p>
          <a:p>
            <a:pPr marL="0" indent="0">
              <a:buNone/>
            </a:pPr>
            <a:r>
              <a:rPr lang="en-GB" sz="1100" dirty="0" err="1"/>
              <a:t>Analyze</a:t>
            </a:r>
            <a:r>
              <a:rPr lang="en-GB" sz="1100" dirty="0"/>
              <a:t> marketing performance and customer </a:t>
            </a:r>
            <a:r>
              <a:rPr lang="en-GB" sz="1100" dirty="0" err="1"/>
              <a:t>behavior</a:t>
            </a:r>
            <a:r>
              <a:rPr lang="en-GB" sz="1100" dirty="0"/>
              <a:t> to identify improvement opportunities, optimize spend efficiency, and drive higher engagement, conversions, and satisfaction.</a:t>
            </a:r>
          </a:p>
        </p:txBody>
      </p:sp>
      <p:pic>
        <p:nvPicPr>
          <p:cNvPr id="25" name="Picture 24">
            <a:extLst>
              <a:ext uri="{FF2B5EF4-FFF2-40B4-BE49-F238E27FC236}">
                <a16:creationId xmlns:a16="http://schemas.microsoft.com/office/drawing/2014/main" id="{CF99DD9C-FBF8-70FA-764B-F4C63E1F4E5E}"/>
              </a:ext>
            </a:extLst>
          </p:cNvPr>
          <p:cNvPicPr>
            <a:picLocks noChangeAspect="1"/>
          </p:cNvPicPr>
          <p:nvPr/>
        </p:nvPicPr>
        <p:blipFill>
          <a:blip r:embed="rId2"/>
          <a:srcRect l="13993" r="35951"/>
          <a:stretch/>
        </p:blipFill>
        <p:spPr>
          <a:xfrm>
            <a:off x="6096000" y="1"/>
            <a:ext cx="6102825" cy="6858000"/>
          </a:xfrm>
          <a:prstGeom prst="rect">
            <a:avLst/>
          </a:prstGeom>
        </p:spPr>
      </p:pic>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a:xfrm>
            <a:off x="1156851" y="637762"/>
            <a:ext cx="9888496" cy="900131"/>
          </a:xfrm>
        </p:spPr>
        <p:txBody>
          <a:bodyPr anchor="t">
            <a:normAutofit/>
          </a:bodyPr>
          <a:lstStyle/>
          <a:p>
            <a:r>
              <a:rPr lang="en-GB" sz="2800" b="1" dirty="0">
                <a:solidFill>
                  <a:schemeClr val="bg1"/>
                </a:solidFill>
              </a:rPr>
              <a:t>Subject:</a:t>
            </a:r>
            <a:r>
              <a:rPr lang="en-GB" sz="2800" dirty="0">
                <a:solidFill>
                  <a:schemeClr val="bg1"/>
                </a:solidFill>
              </a:rPr>
              <a:t> Request for Data-Driven Insights to Strengthen Marketing Strategy</a:t>
            </a:r>
            <a:endParaRPr lang="nb-NO" sz="2800" b="1" dirty="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a:xfrm>
            <a:off x="1156851" y="2056477"/>
            <a:ext cx="10730349" cy="4607362"/>
          </a:xfrm>
        </p:spPr>
        <p:txBody>
          <a:bodyPr>
            <a:normAutofit fontScale="92500" lnSpcReduction="10000"/>
          </a:bodyPr>
          <a:lstStyle/>
          <a:p>
            <a:pPr marL="0" indent="0">
              <a:buNone/>
            </a:pPr>
            <a:r>
              <a:rPr lang="en-GB" sz="1600" b="1" dirty="0"/>
              <a:t>Dear Analyst,</a:t>
            </a:r>
            <a:endParaRPr lang="en-GB" sz="1600" dirty="0"/>
          </a:p>
          <a:p>
            <a:pPr marL="0" indent="0">
              <a:buNone/>
            </a:pPr>
            <a:r>
              <a:rPr lang="en-GB" sz="1600" dirty="0"/>
              <a:t>We are observing a decline in customer engagement and conversion performance across our online platforms, despite investing in multiple marketing campaigns. To improve efficiency and maximize ROI, we require a detailed data-driven analysis.</a:t>
            </a:r>
          </a:p>
          <a:p>
            <a:pPr marL="0" indent="0">
              <a:buNone/>
            </a:pPr>
            <a:r>
              <a:rPr lang="en-GB" sz="1600" b="1" dirty="0"/>
              <a:t>Key Requirements:</a:t>
            </a:r>
            <a:endParaRPr lang="en-GB" sz="1600" dirty="0"/>
          </a:p>
          <a:p>
            <a:r>
              <a:rPr lang="en-GB" sz="1600" dirty="0" err="1"/>
              <a:t>Analyze</a:t>
            </a:r>
            <a:r>
              <a:rPr lang="en-GB" sz="1600" dirty="0"/>
              <a:t> website &amp; campaign engagement trends</a:t>
            </a:r>
          </a:p>
          <a:p>
            <a:r>
              <a:rPr lang="en-GB" sz="1600" dirty="0"/>
              <a:t>Identify conversion bottlenecks across the funnel</a:t>
            </a:r>
          </a:p>
          <a:p>
            <a:r>
              <a:rPr lang="en-GB" sz="1600" dirty="0"/>
              <a:t>Evaluate content effectiveness &amp; platform performance</a:t>
            </a:r>
          </a:p>
          <a:p>
            <a:r>
              <a:rPr lang="en-GB" sz="1600" dirty="0"/>
              <a:t>Review customer feedback &amp; sentiment drivers</a:t>
            </a:r>
          </a:p>
          <a:p>
            <a:r>
              <a:rPr lang="en-GB" sz="1600" dirty="0"/>
              <a:t>Provide actionable recommendations to enhance marketing ROI</a:t>
            </a:r>
          </a:p>
          <a:p>
            <a:pPr marL="0" indent="0">
              <a:buNone/>
            </a:pPr>
            <a:r>
              <a:rPr lang="en-GB" sz="1600" b="1" dirty="0"/>
              <a:t>Objective:</a:t>
            </a:r>
          </a:p>
          <a:p>
            <a:pPr marL="0" indent="0">
              <a:buNone/>
            </a:pPr>
            <a:br>
              <a:rPr lang="en-GB" sz="1600" dirty="0"/>
            </a:br>
            <a:r>
              <a:rPr lang="en-GB" sz="1600" dirty="0"/>
              <a:t>Leverage data analysis to improve marketing effectiveness, strengthen customer satisfaction, and support business growth through informed decision-making.</a:t>
            </a:r>
          </a:p>
          <a:p>
            <a:pPr marL="0" indent="0">
              <a:buNone/>
            </a:pPr>
            <a:r>
              <a:rPr lang="en-US" sz="1500" dirty="0"/>
              <a:t>Looking forward to your response.</a:t>
            </a:r>
          </a:p>
          <a:p>
            <a:pPr marL="0" indent="0">
              <a:buNone/>
            </a:pPr>
            <a:r>
              <a:rPr lang="en-US" sz="1500" dirty="0"/>
              <a:t>Best regards,</a:t>
            </a:r>
            <a:br>
              <a:rPr lang="en-US" sz="1500" dirty="0"/>
            </a:br>
            <a:r>
              <a:rPr lang="en-US" sz="1500" dirty="0"/>
              <a:t>Jane Doe</a:t>
            </a:r>
            <a:br>
              <a:rPr lang="en-US" sz="1500" dirty="0"/>
            </a:br>
            <a:r>
              <a:rPr lang="en-US" sz="1500"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a:xfrm>
            <a:off x="1156851" y="637762"/>
            <a:ext cx="9888496" cy="900131"/>
          </a:xfrm>
        </p:spPr>
        <p:txBody>
          <a:bodyPr anchor="t">
            <a:normAutofit/>
          </a:bodyPr>
          <a:lstStyle/>
          <a:p>
            <a:r>
              <a:rPr lang="en-GB" sz="2800" b="1" dirty="0">
                <a:solidFill>
                  <a:schemeClr val="bg1"/>
                </a:solidFill>
              </a:rPr>
              <a:t>Subject: Request for Data Analysis to Strengthen Marketing Strategy</a:t>
            </a:r>
            <a:endParaRPr lang="nb-NO" sz="2800" b="1" dirty="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a:xfrm>
            <a:off x="1155548" y="2217343"/>
            <a:ext cx="9880893" cy="3959619"/>
          </a:xfrm>
        </p:spPr>
        <p:txBody>
          <a:bodyPr>
            <a:normAutofit/>
          </a:bodyPr>
          <a:lstStyle/>
          <a:p>
            <a:pPr marL="0" indent="0">
              <a:buNone/>
            </a:pPr>
            <a:r>
              <a:rPr lang="en-GB" sz="1600" dirty="0"/>
              <a:t>Hi Data Analyst,</a:t>
            </a:r>
          </a:p>
          <a:p>
            <a:pPr marL="0" indent="0">
              <a:buNone/>
            </a:pPr>
            <a:r>
              <a:rPr lang="en-GB" sz="1600" dirty="0"/>
              <a:t>I hope you're doing well. I’m reaching out from the Customer Experience team at </a:t>
            </a:r>
            <a:r>
              <a:rPr lang="en-GB" sz="1600" dirty="0" err="1"/>
              <a:t>ShopEasy</a:t>
            </a:r>
            <a:r>
              <a:rPr lang="en-GB" sz="1600" dirty="0"/>
              <a:t>. Over the past few months, we have observed a decline in customer engagement and satisfaction, which has also impacted our overall conversion rates.</a:t>
            </a:r>
          </a:p>
          <a:p>
            <a:pPr marL="0" indent="0">
              <a:buNone/>
            </a:pPr>
            <a:r>
              <a:rPr lang="en-GB" sz="1600" dirty="0"/>
              <a:t>We have collected customer reviews, social media comments, and product feedback that point to certain experience gaps and sentiment trends. To make informed improvements, we need a detailed data-driven analysis to help uncover key patterns and areas of concern.</a:t>
            </a:r>
          </a:p>
          <a:p>
            <a:pPr marL="0" indent="0">
              <a:buNone/>
            </a:pPr>
            <a:r>
              <a:rPr lang="en-GB" sz="1600" dirty="0"/>
              <a:t>Your expertise in </a:t>
            </a:r>
            <a:r>
              <a:rPr lang="en-GB" sz="1600" dirty="0" err="1"/>
              <a:t>analyzing</a:t>
            </a:r>
            <a:r>
              <a:rPr lang="en-GB" sz="1600" dirty="0"/>
              <a:t> this data and generating actionable insights will be crucial in helping us better understand customer needs, strengthen our marketing efforts, and enhance the end-to-end experience.</a:t>
            </a:r>
          </a:p>
          <a:p>
            <a:pPr marL="0" indent="0">
              <a:buNone/>
            </a:pPr>
            <a:r>
              <a:rPr lang="en-GB" sz="1600" dirty="0"/>
              <a:t>Thank you in advance for your support. Looking forward to your findings.</a:t>
            </a:r>
          </a:p>
          <a:p>
            <a:pPr marL="0" indent="0">
              <a:buNone/>
            </a:pPr>
            <a:r>
              <a:rPr lang="en-GB" sz="1600" b="1" dirty="0"/>
              <a:t>Best Regards,</a:t>
            </a:r>
            <a:br>
              <a:rPr lang="en-GB" sz="1600" dirty="0"/>
            </a:br>
            <a:r>
              <a:rPr lang="en-GB" sz="1600" b="1" dirty="0"/>
              <a:t>John Smith</a:t>
            </a:r>
            <a:br>
              <a:rPr lang="en-GB" sz="1600" dirty="0"/>
            </a:br>
            <a:r>
              <a:rPr lang="en-GB" sz="1600" dirty="0"/>
              <a:t>Customer Experience Manager, </a:t>
            </a:r>
            <a:r>
              <a:rPr lang="en-GB" sz="1600" dirty="0" err="1"/>
              <a:t>ShopEasy</a:t>
            </a:r>
            <a:endParaRPr lang="en-GB" sz="1600" dirty="0"/>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graphicFrame>
        <p:nvGraphicFramePr>
          <p:cNvPr id="5" name="Content Placeholder 2">
            <a:extLst>
              <a:ext uri="{FF2B5EF4-FFF2-40B4-BE49-F238E27FC236}">
                <a16:creationId xmlns:a16="http://schemas.microsoft.com/office/drawing/2014/main" id="{D503C56E-C4B6-5000-1DD7-B32F043FE9FE}"/>
              </a:ext>
            </a:extLst>
          </p:cNvPr>
          <p:cNvGraphicFramePr>
            <a:graphicFrameLocks noGrp="1"/>
          </p:cNvGraphicFramePr>
          <p:nvPr>
            <p:ph idx="1"/>
            <p:extLst>
              <p:ext uri="{D42A27DB-BD31-4B8C-83A1-F6EECF244321}">
                <p14:modId xmlns:p14="http://schemas.microsoft.com/office/powerpoint/2010/main" val="143200054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8F59A4-4431-460D-8E49-6E65C189A5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8A919B9C-5C01-47E4-B2F2-45F589208AB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id="{E85A82CE-D835-4542-BE8D-62A8F5A94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63D7EF0-3AC8-4029-B55D-EBDD733D3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a:xfrm>
            <a:off x="550863" y="365125"/>
            <a:ext cx="11090274" cy="1325563"/>
          </a:xfrm>
        </p:spPr>
        <p:txBody>
          <a:bodyPr>
            <a:normAutofit/>
          </a:bodyPr>
          <a:lstStyle/>
          <a:p>
            <a:r>
              <a:rPr lang="en-US" sz="4000" b="1"/>
              <a:t>Goals</a:t>
            </a:r>
            <a:endParaRPr lang="nb-NO" sz="4000" b="1"/>
          </a:p>
        </p:txBody>
      </p:sp>
      <p:graphicFrame>
        <p:nvGraphicFramePr>
          <p:cNvPr id="5" name="Content Placeholder 2">
            <a:extLst>
              <a:ext uri="{FF2B5EF4-FFF2-40B4-BE49-F238E27FC236}">
                <a16:creationId xmlns:a16="http://schemas.microsoft.com/office/drawing/2014/main" id="{E013D594-2B2E-A517-C58B-3425E0905D63}"/>
              </a:ext>
            </a:extLst>
          </p:cNvPr>
          <p:cNvGraphicFramePr>
            <a:graphicFrameLocks noGrp="1"/>
          </p:cNvGraphicFramePr>
          <p:nvPr>
            <p:ph idx="1"/>
            <p:extLst>
              <p:ext uri="{D42A27DB-BD31-4B8C-83A1-F6EECF244321}">
                <p14:modId xmlns:p14="http://schemas.microsoft.com/office/powerpoint/2010/main" val="1023339846"/>
              </p:ext>
            </p:extLst>
          </p:nvPr>
        </p:nvGraphicFramePr>
        <p:xfrm>
          <a:off x="547688" y="2133600"/>
          <a:ext cx="11093450" cy="4157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466</TotalTime>
  <Words>635</Words>
  <Application>Microsoft Office PowerPoint</Application>
  <PresentationFormat>Widescreen</PresentationFormat>
  <Paragraphs>46</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Data-Driven Marketing Performance Analysis &amp; Strategic Insights</vt:lpstr>
      <vt:lpstr>🧩 Business Problem</vt:lpstr>
      <vt:lpstr>Subject: Request for Data-Driven Insights to Strengthen Marketing Strategy</vt:lpstr>
      <vt:lpstr>Subject: Request for Data Analysis to Strengthen Marketing Strategy</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Shreya Kumari</cp:lastModifiedBy>
  <cp:revision>4</cp:revision>
  <dcterms:created xsi:type="dcterms:W3CDTF">2024-07-20T13:50:58Z</dcterms:created>
  <dcterms:modified xsi:type="dcterms:W3CDTF">2025-11-04T08:17:35Z</dcterms:modified>
</cp:coreProperties>
</file>