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59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E2125-EB2D-4716-8AE2-6679A50160D7}" v="13" dt="2024-09-04T07:40:37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9" autoAdjust="0"/>
    <p:restoredTop sz="96236" autoAdjust="0"/>
  </p:normalViewPr>
  <p:slideViewPr>
    <p:cSldViewPr snapToGrid="0">
      <p:cViewPr varScale="1">
        <p:scale>
          <a:sx n="85" d="100"/>
          <a:sy n="85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710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52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9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77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27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4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03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40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7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8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8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3D5CC-2FCA-6593-9BCE-672700C84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 dirty="0"/>
              <a:t>Data Presentation</a:t>
            </a:r>
            <a:endParaRPr lang="nb-NO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78D01-91D1-9F24-CCFC-EB29E2334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r>
              <a:rPr lang="en-IN" b="1" dirty="0"/>
              <a:t>Data-Driven Marketing Performance Analysis &amp; Strategic Insights</a:t>
            </a:r>
            <a:endParaRPr lang="en-IN" dirty="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F1389B43-BD3B-1008-A967-81099FCEE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Bar chart">
            <a:extLst>
              <a:ext uri="{FF2B5EF4-FFF2-40B4-BE49-F238E27FC236}">
                <a16:creationId xmlns:a16="http://schemas.microsoft.com/office/drawing/2014/main" id="{B27C5893-4401-412D-BB3C-A2BB4B6EB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7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4306C0-546A-60F1-F05E-BED638F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✅ Insights 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36F16-91A5-5CAF-84F3-64F6D6DE9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20911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sz="2000" b="1" dirty="0"/>
              <a:t>Conversion Performance</a:t>
            </a:r>
            <a:endParaRPr lang="en-GB" sz="2000" dirty="0"/>
          </a:p>
          <a:p>
            <a:pPr lvl="1"/>
            <a:r>
              <a:rPr lang="en-GB" sz="1600" dirty="0"/>
              <a:t>Conversion rate dropped to </a:t>
            </a:r>
            <a:r>
              <a:rPr lang="en-GB" sz="1600" b="1" dirty="0"/>
              <a:t>6.1% in October</a:t>
            </a:r>
            <a:endParaRPr lang="en-GB" sz="1600" dirty="0"/>
          </a:p>
          <a:p>
            <a:pPr lvl="1"/>
            <a:r>
              <a:rPr lang="en-GB" sz="1600" dirty="0"/>
              <a:t>Strong recovery to </a:t>
            </a:r>
            <a:r>
              <a:rPr lang="en-GB" sz="1600" b="1" dirty="0"/>
              <a:t>11.4% in December</a:t>
            </a:r>
            <a:r>
              <a:rPr lang="en-GB" sz="1600" dirty="0"/>
              <a:t>, reflecting improved campaign effectiveness</a:t>
            </a:r>
          </a:p>
          <a:p>
            <a:pPr lvl="1"/>
            <a:r>
              <a:rPr lang="en-GB" sz="1600" b="1" dirty="0"/>
              <a:t>Customer Engagement</a:t>
            </a:r>
            <a:endParaRPr lang="en-GB" sz="1600" dirty="0"/>
          </a:p>
          <a:p>
            <a:pPr lvl="1"/>
            <a:r>
              <a:rPr lang="en-GB" sz="1600" dirty="0"/>
              <a:t>Overall </a:t>
            </a:r>
            <a:r>
              <a:rPr lang="en-GB" sz="1600" b="1" dirty="0"/>
              <a:t>social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media</a:t>
            </a:r>
            <a:r>
              <a:rPr lang="en-GB" sz="1600" b="1" dirty="0"/>
              <a:t> engagement declined</a:t>
            </a:r>
            <a:r>
              <a:rPr lang="en-GB" sz="1600" dirty="0"/>
              <a:t> through the year, especially views</a:t>
            </a:r>
          </a:p>
          <a:p>
            <a:pPr lvl="1"/>
            <a:r>
              <a:rPr lang="en-GB" sz="1600" dirty="0"/>
              <a:t>Despite lower reach, </a:t>
            </a:r>
            <a:r>
              <a:rPr lang="en-GB" sz="1600" b="1" dirty="0"/>
              <a:t>CTR remains strong at 15.37%</a:t>
            </a:r>
            <a:r>
              <a:rPr lang="en-GB" sz="1600" dirty="0"/>
              <a:t>, showing high intent from engaged users</a:t>
            </a:r>
          </a:p>
          <a:p>
            <a:pPr lvl="1"/>
            <a:r>
              <a:rPr lang="en-GB" sz="1600" b="1" dirty="0"/>
              <a:t>Customer Feedback</a:t>
            </a:r>
            <a:endParaRPr lang="en-GB" sz="1600" dirty="0"/>
          </a:p>
          <a:p>
            <a:pPr lvl="1"/>
            <a:r>
              <a:rPr lang="en-GB" sz="1600" dirty="0"/>
              <a:t>Average customer rating stable at </a:t>
            </a:r>
            <a:r>
              <a:rPr lang="en-GB" sz="1600" b="1" dirty="0"/>
              <a:t>~3.7</a:t>
            </a:r>
            <a:r>
              <a:rPr lang="en-GB" sz="1600" dirty="0"/>
              <a:t> (slightly below </a:t>
            </a:r>
            <a:r>
              <a:rPr lang="en-GB" sz="1600" b="1" dirty="0"/>
              <a:t>4.0 benchmark</a:t>
            </a:r>
            <a:r>
              <a:rPr lang="en-GB" sz="1600" dirty="0"/>
              <a:t>)</a:t>
            </a:r>
          </a:p>
          <a:p>
            <a:pPr lvl="1"/>
            <a:r>
              <a:rPr lang="en-GB" sz="1600" dirty="0"/>
              <a:t>Products rated </a:t>
            </a:r>
            <a:r>
              <a:rPr lang="en-GB" sz="1600" b="1" dirty="0"/>
              <a:t>below 3.5</a:t>
            </a:r>
            <a:r>
              <a:rPr lang="en-GB" sz="1600" dirty="0"/>
              <a:t> require priority action to improve satisfaction and reduce churn risk</a:t>
            </a:r>
            <a:br>
              <a:rPr lang="en-GB" sz="1600" dirty="0"/>
            </a:br>
            <a:endParaRPr lang="en-GB" sz="1600" dirty="0"/>
          </a:p>
          <a:p>
            <a:pPr marL="0" indent="0">
              <a:buNone/>
            </a:pPr>
            <a:r>
              <a:rPr lang="en-GB" sz="2000" b="1" dirty="0"/>
              <a:t>🎯 Key Takeaways</a:t>
            </a:r>
          </a:p>
          <a:p>
            <a:pPr lvl="1"/>
            <a:r>
              <a:rPr lang="en-GB" sz="1600" dirty="0"/>
              <a:t>Marketing efforts need </a:t>
            </a:r>
            <a:r>
              <a:rPr lang="en-GB" sz="1600" b="1" dirty="0"/>
              <a:t>stronger reach &amp; engagement strategy</a:t>
            </a:r>
            <a:endParaRPr lang="en-GB" sz="1600" dirty="0"/>
          </a:p>
          <a:p>
            <a:pPr lvl="1"/>
            <a:r>
              <a:rPr lang="en-GB" sz="1600" dirty="0"/>
              <a:t>High CTR indicates </a:t>
            </a:r>
            <a:r>
              <a:rPr lang="en-GB" sz="1600" b="1" dirty="0"/>
              <a:t>relevant messaging and quality audience targeting</a:t>
            </a:r>
            <a:endParaRPr lang="en-GB" sz="1600" dirty="0"/>
          </a:p>
          <a:p>
            <a:pPr lvl="1"/>
            <a:r>
              <a:rPr lang="en-GB" sz="1600" dirty="0"/>
              <a:t>Focus on </a:t>
            </a:r>
            <a:r>
              <a:rPr lang="en-GB" sz="1600" b="1" dirty="0"/>
              <a:t>enhancing customer experience &amp; low-rated product lines</a:t>
            </a:r>
            <a:endParaRPr lang="en-GB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FC9FE8-EC31-3084-AE7E-D2CD4DA6E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387" y="1345209"/>
            <a:ext cx="3803216" cy="2428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BB5C4B-87DD-6A80-EF33-6567D0BE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603" y="1345210"/>
            <a:ext cx="3936870" cy="242815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0B3192-656E-0734-EE42-F4DBBB67D9E3}"/>
              </a:ext>
            </a:extLst>
          </p:cNvPr>
          <p:cNvCxnSpPr>
            <a:cxnSpLocks/>
          </p:cNvCxnSpPr>
          <p:nvPr/>
        </p:nvCxnSpPr>
        <p:spPr>
          <a:xfrm>
            <a:off x="10211724" y="1822464"/>
            <a:ext cx="1388788" cy="345478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4362251-117E-8D23-1927-4D79BC611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68" y="3913242"/>
            <a:ext cx="4630322" cy="24281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2A03A8-9FE6-D649-8831-F488E4DEDF7E}"/>
              </a:ext>
            </a:extLst>
          </p:cNvPr>
          <p:cNvSpPr/>
          <p:nvPr/>
        </p:nvSpPr>
        <p:spPr>
          <a:xfrm>
            <a:off x="8211017" y="5111669"/>
            <a:ext cx="1313161" cy="9089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459B85-8FF8-3F68-F083-4F22D9FF99A0}"/>
              </a:ext>
            </a:extLst>
          </p:cNvPr>
          <p:cNvSpPr/>
          <p:nvPr/>
        </p:nvSpPr>
        <p:spPr>
          <a:xfrm>
            <a:off x="7133612" y="2260070"/>
            <a:ext cx="1121517" cy="11157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1508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24B03-AA3A-063B-47A9-E6D9E665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✅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70CE0-1CA8-715A-00A3-F38DAB303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33975" cy="45799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📉 Conversion Trend</a:t>
            </a:r>
          </a:p>
          <a:p>
            <a:pPr lvl="1"/>
            <a:r>
              <a:rPr lang="en-GB" dirty="0"/>
              <a:t>Conversion rate dipped to </a:t>
            </a:r>
            <a:r>
              <a:rPr lang="en-GB" b="1" dirty="0"/>
              <a:t>6.1% in October</a:t>
            </a:r>
            <a:r>
              <a:rPr lang="en-GB" dirty="0"/>
              <a:t>, indicating campaign fatigue or reduced audience interest</a:t>
            </a:r>
          </a:p>
          <a:p>
            <a:pPr lvl="1"/>
            <a:r>
              <a:rPr lang="en-GB" dirty="0"/>
              <a:t>Strong rebound to </a:t>
            </a:r>
            <a:r>
              <a:rPr lang="en-GB" b="1" dirty="0"/>
              <a:t>11.4% in December</a:t>
            </a:r>
            <a:r>
              <a:rPr lang="en-GB" dirty="0"/>
              <a:t>, driven by seasonal demand and improved targeting</a:t>
            </a:r>
          </a:p>
          <a:p>
            <a:pPr marL="0" indent="0">
              <a:buNone/>
            </a:pPr>
            <a:r>
              <a:rPr lang="en-GB" b="1" dirty="0"/>
              <a:t>👥 Customer Engagement</a:t>
            </a:r>
          </a:p>
          <a:p>
            <a:pPr lvl="1"/>
            <a:r>
              <a:rPr lang="en-GB" b="1" dirty="0"/>
              <a:t>Overall engagement declined</a:t>
            </a:r>
            <a:r>
              <a:rPr lang="en-GB" dirty="0"/>
              <a:t> across the year, with a noticeable drop in content views</a:t>
            </a:r>
          </a:p>
          <a:p>
            <a:pPr lvl="1"/>
            <a:r>
              <a:rPr lang="en-GB" dirty="0"/>
              <a:t>Despite lower reach, </a:t>
            </a:r>
            <a:r>
              <a:rPr lang="en-GB" b="1" dirty="0"/>
              <a:t>CTR remains strong at 15.37%</a:t>
            </a:r>
            <a:r>
              <a:rPr lang="en-GB" dirty="0"/>
              <a:t>, showing content is relevant to engaged users</a:t>
            </a:r>
          </a:p>
          <a:p>
            <a:pPr marL="0" indent="0">
              <a:buNone/>
            </a:pPr>
            <a:r>
              <a:rPr lang="en-GB" b="1" dirty="0"/>
              <a:t>⭐ Customer Feedback</a:t>
            </a:r>
          </a:p>
          <a:p>
            <a:pPr lvl="1"/>
            <a:r>
              <a:rPr lang="en-GB" dirty="0"/>
              <a:t>Average rating stable at </a:t>
            </a:r>
            <a:r>
              <a:rPr lang="en-GB" b="1" dirty="0"/>
              <a:t>~3.7</a:t>
            </a:r>
            <a:r>
              <a:rPr lang="en-GB" dirty="0"/>
              <a:t>, slightly below the </a:t>
            </a:r>
            <a:r>
              <a:rPr lang="en-GB" b="1" dirty="0"/>
              <a:t>4.0 quality benchmark</a:t>
            </a:r>
            <a:endParaRPr lang="en-GB" dirty="0"/>
          </a:p>
          <a:p>
            <a:pPr lvl="1"/>
            <a:r>
              <a:rPr lang="en-GB" dirty="0"/>
              <a:t>Products rated </a:t>
            </a:r>
            <a:r>
              <a:rPr lang="en-GB" b="1" dirty="0"/>
              <a:t>below 3.5</a:t>
            </a:r>
            <a:r>
              <a:rPr lang="en-GB" dirty="0"/>
              <a:t> require priority improvements to elevate customer satisfaction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🎯 Takeaways</a:t>
            </a:r>
          </a:p>
          <a:p>
            <a:pPr lvl="1"/>
            <a:r>
              <a:rPr lang="en-GB" dirty="0"/>
              <a:t>Strengthen </a:t>
            </a:r>
            <a:r>
              <a:rPr lang="en-GB" b="1" dirty="0"/>
              <a:t>awareness &amp; engagement strategy</a:t>
            </a:r>
            <a:r>
              <a:rPr lang="en-GB" dirty="0"/>
              <a:t> to improve top-funnel performance</a:t>
            </a:r>
          </a:p>
          <a:p>
            <a:pPr lvl="1"/>
            <a:r>
              <a:rPr lang="en-GB" dirty="0"/>
              <a:t>Maintain effective messaging while </a:t>
            </a:r>
            <a:r>
              <a:rPr lang="en-GB" b="1" dirty="0"/>
              <a:t>expanding reach &amp; targeting</a:t>
            </a:r>
            <a:endParaRPr lang="en-GB" dirty="0"/>
          </a:p>
          <a:p>
            <a:pPr lvl="1"/>
            <a:r>
              <a:rPr lang="en-GB" dirty="0"/>
              <a:t>Focus on CX and </a:t>
            </a:r>
            <a:r>
              <a:rPr lang="en-GB" b="1" dirty="0"/>
              <a:t>improve low-rated product categories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30BD8-F8DE-2417-2B50-092866694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739" y="2071756"/>
            <a:ext cx="5389373" cy="34162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F76FB0A-6CB5-47EB-50C2-6A2B95E1B209}"/>
              </a:ext>
            </a:extLst>
          </p:cNvPr>
          <p:cNvSpPr/>
          <p:nvPr/>
        </p:nvSpPr>
        <p:spPr>
          <a:xfrm>
            <a:off x="6853544" y="2232121"/>
            <a:ext cx="485470" cy="325589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E336E2-BFE9-301A-AFA2-2180EEC07102}"/>
              </a:ext>
            </a:extLst>
          </p:cNvPr>
          <p:cNvSpPr/>
          <p:nvPr/>
        </p:nvSpPr>
        <p:spPr>
          <a:xfrm>
            <a:off x="9990050" y="2240221"/>
            <a:ext cx="411250" cy="32558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4489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41323-4EC6-EDBF-8B2F-910316920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✅ 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EEEC7-BFE3-E8A1-062C-F7A682CE01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b="1" dirty="0"/>
              <a:t>🧭 Boost Customer Acquisition</a:t>
            </a:r>
          </a:p>
          <a:p>
            <a:pPr lvl="1"/>
            <a:r>
              <a:rPr lang="en-GB" dirty="0"/>
              <a:t>Increase social media reach through </a:t>
            </a:r>
            <a:r>
              <a:rPr lang="en-GB" b="1" dirty="0"/>
              <a:t>targeted paid campaigns &amp; influencer partnerships</a:t>
            </a:r>
            <a:endParaRPr lang="en-GB" dirty="0"/>
          </a:p>
          <a:p>
            <a:pPr lvl="1"/>
            <a:r>
              <a:rPr lang="en-GB" dirty="0"/>
              <a:t>Leverage </a:t>
            </a:r>
            <a:r>
              <a:rPr lang="en-GB" b="1" dirty="0"/>
              <a:t>remarketing</a:t>
            </a:r>
            <a:r>
              <a:rPr lang="en-GB" dirty="0"/>
              <a:t> to re-engage users who showed intent but didn’t convert</a:t>
            </a:r>
          </a:p>
          <a:p>
            <a:pPr lvl="1"/>
            <a:r>
              <a:rPr lang="en-GB" dirty="0"/>
              <a:t>Continuously </a:t>
            </a:r>
            <a:r>
              <a:rPr lang="en-GB" b="1" dirty="0"/>
              <a:t>A/B test creatives, CTAs, and landing pages</a:t>
            </a:r>
            <a:r>
              <a:rPr lang="en-GB" dirty="0"/>
              <a:t> to improve conversion journey</a:t>
            </a:r>
          </a:p>
          <a:p>
            <a:pPr marL="0" indent="0">
              <a:buNone/>
            </a:pPr>
            <a:r>
              <a:rPr lang="en-GB" b="1" dirty="0"/>
              <a:t>🎯 Improve Engagement &amp; Click Efficiency</a:t>
            </a:r>
          </a:p>
          <a:p>
            <a:pPr lvl="1"/>
            <a:r>
              <a:rPr lang="en-GB" dirty="0"/>
              <a:t>Refresh content strategy focusing on </a:t>
            </a:r>
            <a:r>
              <a:rPr lang="en-GB" b="1" dirty="0"/>
              <a:t>short-form, interactive, and value-driven content</a:t>
            </a:r>
            <a:endParaRPr lang="en-GB" dirty="0"/>
          </a:p>
          <a:p>
            <a:pPr lvl="1"/>
            <a:r>
              <a:rPr lang="en-GB" dirty="0"/>
              <a:t>Optimize posting frequency &amp; timing to maximize reach</a:t>
            </a:r>
          </a:p>
          <a:p>
            <a:pPr lvl="1"/>
            <a:r>
              <a:rPr lang="en-GB" dirty="0"/>
              <a:t>Strengthen </a:t>
            </a:r>
            <a:r>
              <a:rPr lang="en-GB" b="1" dirty="0"/>
              <a:t>audience targeting &amp; personalization</a:t>
            </a:r>
            <a:r>
              <a:rPr lang="en-GB" dirty="0"/>
              <a:t> to maintain high CTR at scale</a:t>
            </a:r>
          </a:p>
          <a:p>
            <a:pPr marL="0" indent="0">
              <a:buNone/>
            </a:pPr>
            <a:r>
              <a:rPr lang="en-GB" b="1" dirty="0"/>
              <a:t>⭐ Enhance Customer Experience &amp; Satisfaction</a:t>
            </a:r>
          </a:p>
          <a:p>
            <a:pPr lvl="1"/>
            <a:r>
              <a:rPr lang="en-GB" dirty="0"/>
              <a:t>Focus on </a:t>
            </a:r>
            <a:r>
              <a:rPr lang="en-GB" b="1" dirty="0"/>
              <a:t>products rated below 3.5</a:t>
            </a:r>
            <a:r>
              <a:rPr lang="en-GB" dirty="0"/>
              <a:t> — identify pain points &amp; improve quality/service</a:t>
            </a:r>
          </a:p>
          <a:p>
            <a:pPr lvl="1"/>
            <a:r>
              <a:rPr lang="en-GB" dirty="0"/>
              <a:t>Implement </a:t>
            </a:r>
            <a:r>
              <a:rPr lang="en-GB" b="1" dirty="0"/>
              <a:t>customer feedback loop</a:t>
            </a:r>
            <a:r>
              <a:rPr lang="en-GB" dirty="0"/>
              <a:t> to track and address specific concerns</a:t>
            </a:r>
          </a:p>
          <a:p>
            <a:pPr lvl="1"/>
            <a:r>
              <a:rPr lang="en-GB" dirty="0"/>
              <a:t>Introduce </a:t>
            </a:r>
            <a:r>
              <a:rPr lang="en-GB" b="1" dirty="0"/>
              <a:t>loyalty programs or CX initiatives</a:t>
            </a:r>
            <a:r>
              <a:rPr lang="en-GB" dirty="0"/>
              <a:t> to turn users into advocates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/>
              <a:t>🎯 Expected Outcomes</a:t>
            </a:r>
          </a:p>
          <a:p>
            <a:pPr lvl="1"/>
            <a:r>
              <a:rPr lang="en-GB" dirty="0"/>
              <a:t>↑ Customer acquisition &amp; brand visibility</a:t>
            </a:r>
          </a:p>
          <a:p>
            <a:pPr lvl="1"/>
            <a:r>
              <a:rPr lang="en-GB" dirty="0"/>
              <a:t>↑ Engagement &amp; sustained CTR performance</a:t>
            </a:r>
          </a:p>
          <a:p>
            <a:pPr lvl="1"/>
            <a:r>
              <a:rPr lang="en-GB" dirty="0"/>
              <a:t>↑ Customer satisfaction &amp; repeat purchase </a:t>
            </a:r>
            <a:r>
              <a:rPr lang="en-GB" dirty="0" err="1"/>
              <a:t>behavior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AD3E2-6DB1-EED1-8E5D-10ACEFCC7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306" y="1550914"/>
            <a:ext cx="4641694" cy="242815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4F75BE-DDC1-8FDE-9EA6-5BAC6391EC05}"/>
              </a:ext>
            </a:extLst>
          </p:cNvPr>
          <p:cNvCxnSpPr>
            <a:cxnSpLocks/>
          </p:cNvCxnSpPr>
          <p:nvPr/>
        </p:nvCxnSpPr>
        <p:spPr>
          <a:xfrm>
            <a:off x="8824188" y="2002874"/>
            <a:ext cx="1388788" cy="345478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29ED078-EF49-6354-FD1E-BC3AC2293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290" y="4001294"/>
            <a:ext cx="4641694" cy="239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ED45-DF7A-8484-AA42-BF4F3443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Social Media Performance Analysis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1300D-C04A-F902-6B47-B80F46573F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b="1" dirty="0"/>
              <a:t>📊 Reach &amp; Engagement Trend</a:t>
            </a:r>
          </a:p>
          <a:p>
            <a:pPr lvl="1"/>
            <a:r>
              <a:rPr lang="en-GB" dirty="0"/>
              <a:t>Overall </a:t>
            </a:r>
            <a:r>
              <a:rPr lang="en-GB" b="1" dirty="0"/>
              <a:t>reach gradually declined</a:t>
            </a:r>
            <a:r>
              <a:rPr lang="en-GB" dirty="0"/>
              <a:t> over the months, indicating reduced content visibility &amp; platform algorithm traction</a:t>
            </a:r>
          </a:p>
          <a:p>
            <a:pPr lvl="1"/>
            <a:r>
              <a:rPr lang="en-GB" dirty="0"/>
              <a:t>Engagement metrics such as likes &amp; views also followed a similar downward pattern</a:t>
            </a:r>
          </a:p>
          <a:p>
            <a:pPr lvl="1"/>
            <a:r>
              <a:rPr lang="en-GB" b="1" dirty="0"/>
              <a:t>Clicks remained relatively stable</a:t>
            </a:r>
            <a:r>
              <a:rPr lang="en-GB" dirty="0"/>
              <a:t>, showing the audience still finds the content relevant when reached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🔎 Efficiency Metrics</a:t>
            </a:r>
          </a:p>
          <a:p>
            <a:pPr lvl="1"/>
            <a:r>
              <a:rPr lang="en-GB" b="1" dirty="0"/>
              <a:t>Click-Through Rate (CTR) remained healthy</a:t>
            </a:r>
            <a:r>
              <a:rPr lang="en-GB" dirty="0"/>
              <a:t>, despite reduced views</a:t>
            </a:r>
          </a:p>
          <a:p>
            <a:pPr lvl="1"/>
            <a:r>
              <a:rPr lang="en-GB" dirty="0"/>
              <a:t>This indicates content is valuable and persuasive to the right audience</a:t>
            </a:r>
          </a:p>
          <a:p>
            <a:pPr lvl="1"/>
            <a:r>
              <a:rPr lang="en-GB" dirty="0"/>
              <a:t>Challenge lies more in </a:t>
            </a:r>
            <a:r>
              <a:rPr lang="en-GB" b="1" dirty="0"/>
              <a:t>increasing visibility</a:t>
            </a:r>
            <a:r>
              <a:rPr lang="en-GB" dirty="0"/>
              <a:t>, not content quality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📈 Platform-Level Insights</a:t>
            </a:r>
          </a:p>
          <a:p>
            <a:pPr lvl="1"/>
            <a:r>
              <a:rPr lang="en-GB" dirty="0"/>
              <a:t>Performance varied across platforms, likely due to </a:t>
            </a:r>
            <a:r>
              <a:rPr lang="en-GB" b="1" dirty="0"/>
              <a:t>audience distribution and content-type suitability</a:t>
            </a:r>
            <a:endParaRPr lang="en-GB" dirty="0"/>
          </a:p>
          <a:p>
            <a:pPr lvl="1"/>
            <a:r>
              <a:rPr lang="en-GB" dirty="0"/>
              <a:t>Platforms with high intent users delivered </a:t>
            </a:r>
            <a:r>
              <a:rPr lang="en-GB" b="1" dirty="0"/>
              <a:t>better conversion potential</a:t>
            </a:r>
            <a:r>
              <a:rPr lang="en-GB" dirty="0"/>
              <a:t> even with lower volumes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🎯 Key Takeaways</a:t>
            </a:r>
          </a:p>
          <a:p>
            <a:pPr lvl="1"/>
            <a:r>
              <a:rPr lang="en-GB" dirty="0"/>
              <a:t>Strengthen </a:t>
            </a:r>
            <a:r>
              <a:rPr lang="en-GB" b="1" dirty="0"/>
              <a:t>content reach strategy</a:t>
            </a:r>
            <a:r>
              <a:rPr lang="en-GB" dirty="0"/>
              <a:t> (frequency, timing, hashtags, collabs)</a:t>
            </a:r>
          </a:p>
          <a:p>
            <a:pPr lvl="1"/>
            <a:r>
              <a:rPr lang="en-GB" dirty="0"/>
              <a:t>Maintain focus on creative quality to retain </a:t>
            </a:r>
            <a:r>
              <a:rPr lang="en-GB" b="1" dirty="0"/>
              <a:t>high CTR</a:t>
            </a:r>
            <a:endParaRPr lang="en-GB" dirty="0"/>
          </a:p>
          <a:p>
            <a:pPr lvl="1"/>
            <a:r>
              <a:rPr lang="en-GB" dirty="0"/>
              <a:t>Tailor posting format per platform (short-form, reels, carousels)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C7F1F-6867-CCEB-8B92-227E5C7EE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355" y="1619250"/>
            <a:ext cx="3958233" cy="2047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2435DD-0ADE-1383-353D-EB8659614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505" y="3809430"/>
            <a:ext cx="3958233" cy="227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02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B6A6-744C-74B5-068C-31DF311F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✅ Customer Feedback Insights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B5C43B-E784-C9BD-AFBF-26FC1D8FD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48431"/>
            <a:ext cx="5157787" cy="484364"/>
          </a:xfrm>
        </p:spPr>
        <p:txBody>
          <a:bodyPr>
            <a:normAutofit/>
          </a:bodyPr>
          <a:lstStyle/>
          <a:p>
            <a:r>
              <a:rPr lang="en-GB" dirty="0"/>
              <a:t>🎯 Goal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8AD1BC-ECB0-8FAC-B8AF-195F4DF85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32795"/>
            <a:ext cx="5157787" cy="39878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b="1" dirty="0"/>
              <a:t>Increase Conversion Rates</a:t>
            </a:r>
            <a:endParaRPr lang="en-GB" dirty="0"/>
          </a:p>
          <a:p>
            <a:pPr lvl="1"/>
            <a:r>
              <a:rPr lang="en-GB" i="1" dirty="0"/>
              <a:t>Goal:</a:t>
            </a:r>
            <a:r>
              <a:rPr lang="en-GB" dirty="0"/>
              <a:t> Understand conversion bottlenecks and improve the funnel efficiency</a:t>
            </a:r>
          </a:p>
          <a:p>
            <a:pPr lvl="1"/>
            <a:r>
              <a:rPr lang="en-GB" i="1" dirty="0"/>
              <a:t>Insight:</a:t>
            </a:r>
            <a:r>
              <a:rPr lang="en-GB" dirty="0"/>
              <a:t> Conversion dropped mid-period but rebounded strongly, indicating opportunities to optimize targeting, landing experience, and retargeting flows</a:t>
            </a:r>
          </a:p>
          <a:p>
            <a:pPr marL="0" indent="0">
              <a:buNone/>
            </a:pPr>
            <a:r>
              <a:rPr lang="en-GB" b="1" dirty="0"/>
              <a:t>Enhance Customer Engagement</a:t>
            </a:r>
            <a:endParaRPr lang="en-GB" dirty="0"/>
          </a:p>
          <a:p>
            <a:pPr lvl="1"/>
            <a:r>
              <a:rPr lang="en-GB" i="1" dirty="0"/>
              <a:t>Goal:</a:t>
            </a:r>
            <a:r>
              <a:rPr lang="en-GB" dirty="0"/>
              <a:t> Identify content formats and strategies that maximize interaction and audience stickiness</a:t>
            </a:r>
          </a:p>
          <a:p>
            <a:pPr lvl="1"/>
            <a:r>
              <a:rPr lang="en-GB" i="1" dirty="0"/>
              <a:t>Insight:</a:t>
            </a:r>
            <a:r>
              <a:rPr lang="en-GB" dirty="0"/>
              <a:t> Engagement and reach declined over time, but CTR remained high, showing that content quality is strong — distribution &amp; audience reach need strengthening</a:t>
            </a:r>
          </a:p>
          <a:p>
            <a:pPr marL="0" indent="0">
              <a:buNone/>
            </a:pPr>
            <a:r>
              <a:rPr lang="en-GB" b="1" dirty="0"/>
              <a:t>Improve Customer Experience &amp; Ratings</a:t>
            </a:r>
            <a:endParaRPr lang="en-GB" dirty="0"/>
          </a:p>
          <a:p>
            <a:pPr lvl="1"/>
            <a:r>
              <a:rPr lang="en-GB" i="1" dirty="0"/>
              <a:t>Goal:</a:t>
            </a:r>
            <a:r>
              <a:rPr lang="en-GB" dirty="0"/>
              <a:t> Address recurring issues and elevate product/service quality to push ratings above 4.0</a:t>
            </a:r>
          </a:p>
          <a:p>
            <a:pPr lvl="1"/>
            <a:r>
              <a:rPr lang="en-GB" i="1" dirty="0"/>
              <a:t>Insight:</a:t>
            </a:r>
            <a:r>
              <a:rPr lang="en-GB" dirty="0"/>
              <a:t> Average rating held stable around ~3.7, but products below 3.5 highlight clear areas for product refinement, delivery improvement, and better support touchpoints</a:t>
            </a:r>
          </a:p>
          <a:p>
            <a:pPr marL="0" indent="0">
              <a:buNone/>
            </a:pPr>
            <a:r>
              <a:rPr lang="en-GB" b="1" dirty="0"/>
              <a:t>Strengthen Feedback-to-Action Loop</a:t>
            </a:r>
            <a:endParaRPr lang="en-GB" dirty="0"/>
          </a:p>
          <a:p>
            <a:pPr lvl="1"/>
            <a:r>
              <a:rPr lang="en-GB" i="1" dirty="0"/>
              <a:t>Goal:</a:t>
            </a:r>
            <a:r>
              <a:rPr lang="en-GB" dirty="0"/>
              <a:t> Build a structured system to continuously capture, </a:t>
            </a:r>
            <a:r>
              <a:rPr lang="en-GB" dirty="0" err="1"/>
              <a:t>analyze</a:t>
            </a:r>
            <a:r>
              <a:rPr lang="en-GB" dirty="0"/>
              <a:t>, and act on customer feedback</a:t>
            </a:r>
          </a:p>
          <a:p>
            <a:pPr lvl="1"/>
            <a:r>
              <a:rPr lang="en-GB" i="1" dirty="0"/>
              <a:t>Insight:</a:t>
            </a:r>
            <a:r>
              <a:rPr lang="en-GB" dirty="0"/>
              <a:t> Repeated complaint themes across lower-rated items signal the need for systematic monitoring, escalation, and quality control processes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93FBA5-1FCE-4950-5EC5-479C0DE4B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593587"/>
            <a:ext cx="5183188" cy="439208"/>
          </a:xfrm>
        </p:spPr>
        <p:txBody>
          <a:bodyPr>
            <a:normAutofit/>
          </a:bodyPr>
          <a:lstStyle/>
          <a:p>
            <a:r>
              <a:rPr lang="en-IN" dirty="0"/>
              <a:t>✅ Strategic Action Plan</a:t>
            </a:r>
            <a:endParaRPr lang="nb-NO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B130CF-2DD1-4F93-32BF-851910EF2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032795"/>
            <a:ext cx="5068711" cy="37577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300" b="1" dirty="0"/>
              <a:t>📈 Expected Impact</a:t>
            </a:r>
          </a:p>
          <a:p>
            <a:r>
              <a:rPr lang="en-GB" sz="1100" dirty="0"/>
              <a:t>⭐ </a:t>
            </a:r>
            <a:r>
              <a:rPr lang="en-GB" sz="1100" b="1" dirty="0"/>
              <a:t>Significant improvement in customer satisfaction</a:t>
            </a:r>
            <a:r>
              <a:rPr lang="en-GB" sz="1100" dirty="0"/>
              <a:t>, with average ratings targeted to increase from </a:t>
            </a:r>
            <a:r>
              <a:rPr lang="en-GB" sz="1100" b="1" dirty="0"/>
              <a:t>~3.7 to 4.0+</a:t>
            </a:r>
            <a:r>
              <a:rPr lang="en-GB" sz="1100" dirty="0"/>
              <a:t>, reflecting enhanced product quality and service experience.</a:t>
            </a:r>
          </a:p>
          <a:p>
            <a:r>
              <a:rPr lang="en-GB" sz="1100" dirty="0"/>
              <a:t>🔁 </a:t>
            </a:r>
            <a:r>
              <a:rPr lang="en-GB" sz="1100" b="1" dirty="0"/>
              <a:t>Higher repeat purchase rates and stronger customer retention</a:t>
            </a:r>
            <a:r>
              <a:rPr lang="en-GB" sz="1100" dirty="0"/>
              <a:t>, driven by better product performance, improved post-purchase experience, and trust-building initiatives.</a:t>
            </a:r>
          </a:p>
          <a:p>
            <a:r>
              <a:rPr lang="en-GB" sz="1100" dirty="0"/>
              <a:t>📣 </a:t>
            </a:r>
            <a:r>
              <a:rPr lang="en-GB" sz="1100" b="1" dirty="0"/>
              <a:t>Enhanced brand perception and positive word-of-mouth</a:t>
            </a:r>
            <a:r>
              <a:rPr lang="en-GB" sz="1100" dirty="0"/>
              <a:t>, as satisfied customers share feedback and contribute to improved online sentiment and recommendation </a:t>
            </a:r>
            <a:r>
              <a:rPr lang="en-GB" sz="1100" dirty="0" err="1"/>
              <a:t>behavior</a:t>
            </a:r>
            <a:r>
              <a:rPr lang="en-GB" sz="1100" dirty="0"/>
              <a:t>.</a:t>
            </a:r>
          </a:p>
          <a:p>
            <a:r>
              <a:rPr lang="en-GB" sz="1100" dirty="0"/>
              <a:t>📉 </a:t>
            </a:r>
            <a:r>
              <a:rPr lang="en-GB" sz="1100" b="1" dirty="0"/>
              <a:t>Reduction in product complaints, returns, and support tickets</a:t>
            </a:r>
            <a:r>
              <a:rPr lang="en-GB" sz="1100" dirty="0"/>
              <a:t>, leading to lower operational friction, reduced resolution time, and improved internal efficiency.</a:t>
            </a:r>
          </a:p>
          <a:p>
            <a:r>
              <a:rPr lang="en-GB" sz="1100" dirty="0"/>
              <a:t>🚀 </a:t>
            </a:r>
            <a:r>
              <a:rPr lang="en-GB" sz="1100" b="1" dirty="0"/>
              <a:t>Sustainable long-term growth foundation</a:t>
            </a:r>
            <a:r>
              <a:rPr lang="en-GB" sz="1100" dirty="0"/>
              <a:t>, supported by a continuous feedback loop, proactive issue resolution, and customer-centric product improvements.</a:t>
            </a:r>
          </a:p>
        </p:txBody>
      </p:sp>
    </p:spTree>
    <p:extLst>
      <p:ext uri="{BB962C8B-B14F-4D97-AF65-F5344CB8AC3E}">
        <p14:creationId xmlns:p14="http://schemas.microsoft.com/office/powerpoint/2010/main" val="75864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572</TotalTime>
  <Words>852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Data Presentation</vt:lpstr>
      <vt:lpstr>✅ Insights Summary</vt:lpstr>
      <vt:lpstr>✅ Key Insights</vt:lpstr>
      <vt:lpstr>✅ Strategic Recommendations</vt:lpstr>
      <vt:lpstr>✅ Social Media Performance Analysis</vt:lpstr>
      <vt:lpstr>✅ Customer Feedback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Shreya Kumari</cp:lastModifiedBy>
  <cp:revision>4</cp:revision>
  <dcterms:created xsi:type="dcterms:W3CDTF">2024-09-03T15:16:05Z</dcterms:created>
  <dcterms:modified xsi:type="dcterms:W3CDTF">2025-11-04T08:04:43Z</dcterms:modified>
</cp:coreProperties>
</file>